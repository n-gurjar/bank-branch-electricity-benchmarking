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fbc2ad7-2dcb-8062-82aa-991a60493ed6}">
          <p14:sldIdLst>
            <p14:sldId id="256"/>
          </p14:sldIdLst>
        </p14:section>
        <p14:section name="Summary" id="{6248d634-68b3-70bc-e379-b544474ffaf9}">
          <p14:sldIdLst>
            <p14:sldId id="257"/>
          </p14:sldIdLst>
        </p14:section>
        <p14:section name="Problem" id="{bfcae981-a860-52a6-bdf4-2b7b523f8d4a}">
          <p14:sldIdLst>
            <p14:sldId id="258"/>
            <p14:sldId id="259"/>
          </p14:sldIdLst>
        </p14:section>
        <p14:section name="Approach" id="{34691cf4-8f46-1115-1b0f-3cfc805ad722}">
          <p14:sldIdLst>
            <p14:sldId id="260"/>
          </p14:sldIdLst>
        </p14:section>
        <p14:section name="Findings" id="{393bd68f-7e37-9614-9c9c-572170b22833}">
          <p14:sldIdLst>
            <p14:sldId id="261"/>
            <p14:sldId id="262"/>
            <p14:sldId id="263"/>
            <p14:sldId id="264"/>
            <p14:sldId id="265"/>
          </p14:sldIdLst>
        </p14:section>
        <p14:section name="Close" id="{48fd1d35-88d1-578e-dc1d-888bced72fa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Branches by electricity data coverage</a:t>
            </a:r>
          </a:p>
        </c:rich>
      </c:tx>
      <c:layout/>
      <c:overlay val="0"/>
    </c:title>
    <c:autoTitleDeleted val="0"/>
    <c:plotArea>
      <c:layout/>
      <c:barChart>
        <c:barDir val="col"/>
        <c:grouping val="clustered"/>
        <c:varyColors val="0"/>
        <c:ser>
          <c:idx val="0"/>
          <c:order val="0"/>
          <c:tx>
            <c:strRef>
              <c:f>Sheet1!$B$1</c:f>
              <c:strCache>
                <c:ptCount val="1"/>
                <c:pt idx="0">
                  <c:v>Branches</c:v>
                </c:pt>
              </c:strCache>
            </c:strRef>
          </c:tx>
          <c:spPr>
            <a:solidFill>
              <a:srgbClr val="2A9D8F"/>
            </a:solidFill>
            <a:effectLst/>
          </c:spPr>
          <c:invertIfNegative val="0"/>
          <c:dLbls>
            <c:numFmt formatCode="#,##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8D99AE"/>
              </a:solidFill>
              <a:effectLst/>
            </c:spPr>
          </c:dPt>
          <c:dPt>
            <c:idx val="2"/>
            <c:invertIfNegative val="0"/>
            <c:bubble3D val="0"/>
            <c:spPr>
              <a:solidFill>
                <a:srgbClr val="F4A300"/>
              </a:solidFill>
              <a:effectLst/>
            </c:spPr>
          </c:dPt>
          <c:cat>
            <c:multiLvlStrRef>
              <c:f>Sheet1!$A$2:$A$4</c:f>
              <c:multiLvlStrCache>
                <c:ptCount val="3"/>
                <c:lvl>
                  <c:pt idx="0">
                    <c:v>Complete (12 mo)</c:v>
                  </c:pt>
                  <c:pt idx="1">
                    <c:v>Partial (3–8 mo)</c:v>
                  </c:pt>
                  <c:pt idx="2">
                    <c:v>No meter data</c:v>
                  </c:pt>
                </c:lvl>
              </c:multiLvlStrCache>
            </c:multiLvlStrRef>
          </c:cat>
          <c:val>
            <c:numRef>
              <c:f>Sheet1!$B$2:$B$4</c:f>
              <c:numCache>
                <c:formatCode>General</c:formatCode>
                <c:ptCount val="3"/>
                <c:pt idx="0">
                  <c:v>2108</c:v>
                </c:pt>
                <c:pt idx="1">
                  <c:v>810</c:v>
                </c:pt>
                <c:pt idx="2">
                  <c:v>1082</c:v>
                </c:pt>
              </c:numCache>
            </c:numRef>
          </c:val>
        </c:ser>
        <c:dLbls>
          <c:numFmt formatCode="#,##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Median absolute error (%)</a:t>
            </a:r>
          </a:p>
        </c:rich>
      </c:tx>
      <c:layout/>
      <c:overlay val="0"/>
    </c:title>
    <c:autoTitleDeleted val="0"/>
    <c:plotArea>
      <c:layout/>
      <c:barChart>
        <c:barDir val="col"/>
        <c:grouping val="clustered"/>
        <c:varyColors val="0"/>
        <c:ser>
          <c:idx val="0"/>
          <c:order val="0"/>
          <c:tx>
            <c:strRef>
              <c:f>Sheet1!$B$1</c:f>
              <c:strCache>
                <c:ptCount val="1"/>
                <c:pt idx="0">
                  <c:v>Simple alternative</c:v>
                </c:pt>
              </c:strCache>
            </c:strRef>
          </c:tx>
          <c:spPr>
            <a:solidFill>
              <a:srgbClr val="CBD3DE"/>
            </a:solidFill>
            <a:effectLst/>
          </c:spPr>
          <c:invertIfNegative val="0"/>
          <c:dLbls>
            <c:numFmt formatCode="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Sheet1!$A$2:$A$3</c:f>
              <c:multiLvlStrCache>
                <c:ptCount val="2"/>
                <c:lvl>
                  <c:pt idx="0">
                    <c:v>Partial-year branches</c:v>
                  </c:pt>
                  <c:pt idx="1">
                    <c:v>Unmetered branches</c:v>
                  </c:pt>
                </c:lvl>
              </c:multiLvlStrCache>
            </c:multiLvlStrRef>
          </c:cat>
          <c:val>
            <c:numRef>
              <c:f>Sheet1!$B$2:$B$3</c:f>
              <c:numCache>
                <c:formatCode>General</c:formatCode>
                <c:ptCount val="2"/>
                <c:pt idx="0">
                  <c:v>4.6</c:v>
                </c:pt>
                <c:pt idx="1">
                  <c:v>17.7</c:v>
                </c:pt>
              </c:numCache>
            </c:numRef>
          </c:val>
        </c:ser>
        <c:ser>
          <c:idx val="1"/>
          <c:order val="1"/>
          <c:tx>
            <c:strRef>
              <c:f>Sheet1!$C$1</c:f>
              <c:strCache>
                <c:ptCount val="1"/>
                <c:pt idx="0">
                  <c:v>Chosen method</c:v>
                </c:pt>
              </c:strCache>
            </c:strRef>
          </c:tx>
          <c:spPr>
            <a:solidFill>
              <a:srgbClr val="F4A300"/>
            </a:solidFill>
            <a:effectLst/>
          </c:spPr>
          <c:invertIfNegative val="0"/>
          <c:dLbls>
            <c:numFmt formatCode="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cat>
            <c:multiLvlStrRef>
              <c:f>Sheet1!$A$2:$A$3</c:f>
              <c:multiLvlStrCache>
                <c:ptCount val="2"/>
                <c:lvl>
                  <c:pt idx="0">
                    <c:v>Partial-year branches</c:v>
                  </c:pt>
                  <c:pt idx="1">
                    <c:v>Unmetered branches</c:v>
                  </c:pt>
                </c:lvl>
              </c:multiLvlStrCache>
            </c:multiLvlStrRef>
          </c:cat>
          <c:val>
            <c:numRef>
              <c:f>Sheet1!$C$2:$C$3</c:f>
              <c:numCache>
                <c:formatCode>General</c:formatCode>
                <c:ptCount val="2"/>
                <c:pt idx="0">
                  <c:v>2.1</c:v>
                </c:pt>
                <c:pt idx="1">
                  <c:v>12.3</c:v>
                </c:pt>
              </c:numCache>
            </c:numRef>
          </c:val>
        </c:ser>
        <c:dLbls>
          <c:numFmt formatCode="0.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D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GWh</c:v>
                </c:pt>
              </c:strCache>
            </c:strRef>
          </c:tx>
          <c:spPr>
            <a:solidFill>
              <a:schemeClr val="accent1"/>
            </a:solidFill>
            <a:ln w="9525" cap="flat">
              <a:solidFill>
                <a:srgbClr val="F9F9F9"/>
              </a:solidFill>
              <a:prstDash val="solid"/>
              <a:round/>
            </a:ln>
            <a:effectLst/>
          </c:spPr>
          <c:dPt>
            <c:idx val="0"/>
            <c:bubble3D val="0"/>
            <c:spPr>
              <a:solidFill>
                <a:srgbClr val="2A9D8F"/>
              </a:solidFill>
              <a:effectLst/>
            </c:spPr>
          </c:dPt>
          <c:dPt>
            <c:idx val="1"/>
            <c:bubble3D val="0"/>
            <c:spPr>
              <a:solidFill>
                <a:srgbClr val="8D99AE"/>
              </a:solidFill>
              <a:effectLst/>
            </c:spPr>
          </c:dPt>
          <c:dPt>
            <c:idx val="2"/>
            <c:bubble3D val="0"/>
            <c:spPr>
              <a:solidFill>
                <a:srgbClr val="F4A300"/>
              </a:solidFill>
              <a:effectLst/>
            </c:spPr>
          </c:dPt>
          <c:dLbls>
            <c:dLbl>
              <c:idx val="0"/>
              <c:numFmt formatCode="0&quot; GWh&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1"/>
              <c:numFmt formatCode="0&quot; GWh&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dLbl>
              <c:idx val="2"/>
              <c:numFmt formatCode="0&quot; GWh&quot;" sourceLinked="0"/>
              <c:spPr/>
              <c:txPr>
                <a:bodyPr/>
                <a:lstStyle/>
                <a:p>
                  <a:pPr>
                    <a:defRPr sz="1200" b="0" i="0" u="none" strike="noStrike">
                      <a:solidFill>
                        <a:srgbClr val="FFFFFF"/>
                      </a:solidFill>
                      <a:latin typeface="+mn-lt"/>
                    </a:defRPr>
                  </a:pPr>
                </a:p>
              </c:txPr>
              <c:showLegendKey val="0"/>
              <c:showVal val="1"/>
              <c:showCatName val="0"/>
              <c:showSerName val="0"/>
              <c:showPercent val="0"/>
              <c:showBubbleSize val="0"/>
            </c:dLbl>
            <c:numFmt formatCode="0&quot; GWh&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Metered</c:v>
                </c:pt>
                <c:pt idx="1">
                  <c:v>Annualized</c:v>
                </c:pt>
                <c:pt idx="2">
                  <c:v>Modeled</c:v>
                </c:pt>
              </c:strCache>
            </c:strRef>
          </c:cat>
          <c:val>
            <c:numRef>
              <c:f>Sheet1!$B$2:$B$4</c:f>
              <c:numCache>
                <c:ptCount val="3"/>
                <c:pt idx="0">
                  <c:v>181.2</c:v>
                </c:pt>
                <c:pt idx="1">
                  <c:v>63.3</c:v>
                </c:pt>
                <c:pt idx="2">
                  <c:v>69.7</c:v>
                </c:pt>
              </c:numCache>
            </c:numRef>
          </c:val>
        </c:ser>
        <c:firstSliceAng val="0"/>
        <c:holeSize val="58"/>
      </c:doughnutChart>
      <c:spPr>
        <a:noFill/>
        <a:ln>
          <a:noFill/>
        </a:ln>
        <a:effectLst/>
      </c:spPr>
    </c:plotArea>
    <c:legend>
      <c:legendPos val="b"/>
      <c:overlay val="0"/>
      <c:txPr>
        <a:bodyPr/>
        <a:lstStyle/>
        <a:p>
          <a:pPr>
            <a:defRPr sz="1100">
              <a:solidFill>
                <a:srgbClr val="3D4A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Median electricity intensity by HVAC type (kWh/sq ft/yr)</a:t>
            </a:r>
          </a:p>
        </c:rich>
      </c:tx>
      <c:layout/>
      <c:overlay val="0"/>
    </c:title>
    <c:autoTitleDeleted val="0"/>
    <c:plotArea>
      <c:layout/>
      <c:barChart>
        <c:barDir val="bar"/>
        <c:grouping val="clustered"/>
        <c:varyColors val="0"/>
        <c:ser>
          <c:idx val="0"/>
          <c:order val="0"/>
          <c:tx>
            <c:strRef>
              <c:f>Sheet1!$B$1</c:f>
              <c:strCache>
                <c:ptCount val="1"/>
                <c:pt idx="0">
                  <c:v>kWh/sq ft</c:v>
                </c:pt>
              </c:strCache>
            </c:strRef>
          </c:tx>
          <c:spPr>
            <a:solidFill>
              <a:srgbClr val="CBD3DE"/>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CBD3DE"/>
              </a:solidFill>
              <a:effectLst/>
            </c:spPr>
          </c:dPt>
          <c:dPt>
            <c:idx val="1"/>
            <c:invertIfNegative val="0"/>
            <c:bubble3D val="0"/>
            <c:spPr>
              <a:solidFill>
                <a:srgbClr val="CBD3DE"/>
              </a:solidFill>
              <a:effectLst/>
            </c:spPr>
          </c:dPt>
          <c:dPt>
            <c:idx val="2"/>
            <c:invertIfNegative val="0"/>
            <c:bubble3D val="0"/>
            <c:spPr>
              <a:solidFill>
                <a:srgbClr val="CBD3DE"/>
              </a:solidFill>
              <a:effectLst/>
            </c:spPr>
          </c:dPt>
          <c:dPt>
            <c:idx val="3"/>
            <c:invertIfNegative val="0"/>
            <c:bubble3D val="0"/>
            <c:spPr>
              <a:solidFill>
                <a:srgbClr val="8D99AE"/>
              </a:solidFill>
              <a:effectLst/>
            </c:spPr>
          </c:dPt>
          <c:dPt>
            <c:idx val="4"/>
            <c:invertIfNegative val="0"/>
            <c:bubble3D val="0"/>
            <c:spPr>
              <a:solidFill>
                <a:srgbClr val="8D99AE"/>
              </a:solidFill>
              <a:effectLst/>
            </c:spPr>
          </c:dPt>
          <c:dPt>
            <c:idx val="5"/>
            <c:invertIfNegative val="0"/>
            <c:bubble3D val="0"/>
            <c:spPr>
              <a:solidFill>
                <a:srgbClr val="F4A300"/>
              </a:solidFill>
              <a:effectLst/>
            </c:spPr>
          </c:dPt>
          <c:cat>
            <c:multiLvlStrRef>
              <c:f>Sheet1!$A$2:$A$7</c:f>
              <c:multiLvlStrCache>
                <c:ptCount val="6"/>
                <c:lvl>
                  <c:pt idx="0">
                    <c:v>Gas boiler + split AC</c:v>
                  </c:pt>
                  <c:pt idx="1">
                    <c:v>Gas rooftop unit</c:v>
                  </c:pt>
                  <c:pt idx="2">
                    <c:v>Gas furnace + split AC</c:v>
                  </c:pt>
                  <c:pt idx="3">
                    <c:v>Heat pump</c:v>
                  </c:pt>
                  <c:pt idx="4">
                    <c:v>Host building system</c:v>
                  </c:pt>
                  <c:pt idx="5">
                    <c:v>Electric-resistance RTU</c:v>
                  </c:pt>
                </c:lvl>
              </c:multiLvlStrCache>
            </c:multiLvlStrRef>
          </c:cat>
          <c:val>
            <c:numRef>
              <c:f>Sheet1!$B$2:$B$7</c:f>
              <c:numCache>
                <c:formatCode>General</c:formatCode>
                <c:ptCount val="6"/>
                <c:pt idx="0">
                  <c:v>17.9</c:v>
                </c:pt>
                <c:pt idx="1">
                  <c:v>18.2</c:v>
                </c:pt>
                <c:pt idx="2">
                  <c:v>18.4</c:v>
                </c:pt>
                <c:pt idx="3">
                  <c:v>26.1</c:v>
                </c:pt>
                <c:pt idx="4">
                  <c:v>27.5</c:v>
                </c:pt>
                <c:pt idx="5">
                  <c:v>31.7</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4A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Share of 25.6 GWh savings, by branch rank</a:t>
            </a:r>
          </a:p>
        </c:rich>
      </c:tx>
      <c:layout/>
      <c:overlay val="0"/>
    </c:title>
    <c:autoTitleDeleted val="0"/>
    <c:plotArea>
      <c:layout/>
      <c:barChart>
        <c:barDir val="col"/>
        <c:grouping val="clustered"/>
        <c:varyColors val="0"/>
        <c:ser>
          <c:idx val="0"/>
          <c:order val="0"/>
          <c:tx>
            <c:strRef>
              <c:f>Sheet1!$B$1</c:f>
              <c:strCache>
                <c:ptCount val="1"/>
                <c:pt idx="0">
                  <c:v>Share</c:v>
                </c:pt>
              </c:strCache>
            </c:strRef>
          </c:tx>
          <c:spPr>
            <a:solidFill>
              <a:srgbClr val="F4A300"/>
            </a:solidFill>
            <a:effectLst/>
          </c:spPr>
          <c:invertIfNegative val="0"/>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F4A300"/>
              </a:solidFill>
              <a:effectLst/>
            </c:spPr>
          </c:dPt>
          <c:dPt>
            <c:idx val="1"/>
            <c:invertIfNegative val="0"/>
            <c:bubble3D val="0"/>
            <c:spPr>
              <a:solidFill>
                <a:srgbClr val="CBD3DE"/>
              </a:solidFill>
              <a:effectLst/>
            </c:spPr>
          </c:dPt>
          <c:dPt>
            <c:idx val="2"/>
            <c:invertIfNegative val="0"/>
            <c:bubble3D val="0"/>
            <c:spPr>
              <a:solidFill>
                <a:srgbClr val="CBD3DE"/>
              </a:solidFill>
              <a:effectLst/>
            </c:spPr>
          </c:dPt>
          <c:dPt>
            <c:idx val="3"/>
            <c:invertIfNegative val="0"/>
            <c:bubble3D val="0"/>
            <c:spPr>
              <a:solidFill>
                <a:srgbClr val="CBD3DE"/>
              </a:solidFill>
              <a:effectLst/>
            </c:spPr>
          </c:dPt>
          <c:cat>
            <c:multiLvlStrRef>
              <c:f>Sheet1!$A$2:$A$5</c:f>
              <c:multiLvlStrCache>
                <c:ptCount val="4"/>
                <c:lvl>
                  <c:pt idx="0">
                    <c:v>Top 150</c:v>
                  </c:pt>
                  <c:pt idx="1">
                    <c:v>151–250</c:v>
                  </c:pt>
                  <c:pt idx="2">
                    <c:v>251–500</c:v>
                  </c:pt>
                  <c:pt idx="3">
                    <c:v>501–1,054</c:v>
                  </c:pt>
                </c:lvl>
              </c:multiLvlStrCache>
            </c:multiLvlStrRef>
          </c:cat>
          <c:val>
            <c:numRef>
              <c:f>Sheet1!$B$2:$B$5</c:f>
              <c:numCache>
                <c:formatCode>General</c:formatCode>
                <c:ptCount val="4"/>
                <c:pt idx="0">
                  <c:v>50.2</c:v>
                </c:pt>
                <c:pt idx="1">
                  <c:v>15.4</c:v>
                </c:pt>
                <c:pt idx="2">
                  <c:v>21.6</c:v>
                </c:pt>
                <c:pt idx="3">
                  <c:v>12.8</c:v>
                </c:pt>
              </c:numCache>
            </c:numRef>
          </c:val>
        </c:ser>
        <c:dLbls>
          <c:numFmt formatCode="0&quot;%&quot;"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4A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walking through a portfolio electricity and Scope 2 assessment for a 4,000-branch bank network. The headline: 42% of the portfolio's electricity wasn't on a bill we had, so the real work was estimating that gap in a way we can defend. The data is synthetic, built to mirror the gaps real portfolios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three numbers: 314 gigawatt-hours of electricity, about 117,000 tonnes of location-based Scope 2, and 25.6 gigawatt-hours of savings potential, half of which sits in 150 branches. My ask is to start audits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we need a number we can defend. Only 2,108 of 4,000 branches have a full year of data. 810 have a few months, and 1,082 have nothing, mostly because the landlord pays or the meter is shared. Just adding up bills undercounts by about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framed four questions before touching the data. How big is the gap. Are the strange readings errors or real. How do we fill gaps defensibly. And what drives intensity, which is where savings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Everything except the regression runs in SQL on DuckDB, so the pipeline is transparent and reproducible. The regression is in Python with statsmodels, validated with cross-validation in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is to delete anything that looks odd. The 202 zero months were all at solar sites, so they're real. And 11 of the 14 outliers were tiny drive-thru branches. Keeping them was the right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number defensible. I tested each method against branches where we know the answer. Seasonal scaling halved the error on partial years. The regression beat the simple benchmark by about five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 is 314 gigawatt-hours. 181 is metered, 63 is annualized from partial years, and 70 is modeled. At the national average grid factor that's roughly 117,000 tonnes of CO2. Before external reporting I'd switch to subregion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HVAC type explains more variation than anything else in the model. Electric-resistance rooftop units use 58% more electricity per square foot than gas-heated ones, after controls. The caveat matters: this is an electricity view. Heat pumps look high because they carry the heating load, but they're efficient. Resistance heat is the real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are the gap between each branch and the median for its format. 1,054 branches are above median, but the top 150 hold half the savings. They're mostly electrically heated full-service branches, which gives us a clear profile to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asks. Start audits at the top 150. Plan heat pump replacements for resistance heat as equipment ages. Chase landlord data, because every metered branch shrinks the estimated share. And refine emission factors before anything goes in an external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SQL on DuckDB for the data work, Python for modeling, all in a public GitHub repo. And the limitations I'd want any decision-maker to know before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chemeClr val="accent3"/>
                </a:solidFill>
              </a:rPr>
              <a:t>Synthetic portfolio case study  ·  Nilima Gurjar</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60120"/>
            <a:ext cx="512064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PORTFOLIO ENERGY REVIEW</a:t>
            </a:r>
            <a:endParaRPr lang="en-US" sz="1200" dirty="0"/>
          </a:p>
        </p:txBody>
      </p:sp>
      <p:sp>
        <p:nvSpPr>
          <p:cNvPr id="3" name="Text 0"/>
          <p:cNvSpPr/>
          <p:nvPr>
            <p:ph idx="100" type="title" hasCustomPrompt="1"/>
          </p:nvPr>
        </p:nvSpPr>
        <p:spPr>
          <a:xfrm>
            <a:off x="548640" y="1417320"/>
            <a:ext cx="5120640" cy="1463040"/>
          </a:xfrm>
          <a:prstGeom prst="rect">
            <a:avLst/>
          </a:prstGeom>
          <a:noFill/>
          <a:ln/>
        </p:spPr>
        <p:txBody>
          <a:bodyPr wrap="square" lIns="0" tIns="0" rIns="0" bIns="0" rtlCol="0" anchor="t"/>
          <a:lstStyle/>
          <a:p>
            <a:pPr algn="l" indent="0" marL="0">
              <a:buNone/>
            </a:pPr>
            <a:r>
              <a:rPr lang="en-US" sz="3400" b="1" dirty="0">
                <a:solidFill>
                  <a:schemeClr val="bg1"/>
                </a:solidFill>
              </a:rPr>
              <a:t>Closing the data gap on 4,000 bank branches</a:t>
            </a:r>
            <a:endParaRPr lang="en-US" sz="3400" dirty="0"/>
          </a:p>
        </p:txBody>
      </p:sp>
      <p:sp>
        <p:nvSpPr>
          <p:cNvPr id="4" name="Text 2"/>
          <p:cNvSpPr txBox="1"/>
          <p:nvPr/>
        </p:nvSpPr>
        <p:spPr>
          <a:xfrm>
            <a:off x="548640" y="2926080"/>
            <a:ext cx="5120640" cy="365760"/>
          </a:xfrm>
          <a:prstGeom prst="rect">
            <a:avLst/>
          </a:prstGeom>
          <a:noFill/>
          <a:ln/>
        </p:spPr>
        <p:txBody>
          <a:bodyPr wrap="square" lIns="0" tIns="0" rIns="0" bIns="0" rtlCol="0" anchor="ctr"/>
          <a:lstStyle/>
          <a:p>
            <a:pPr indent="0" marL="0">
              <a:buNone/>
            </a:pPr>
            <a:r>
              <a:rPr lang="en-US" sz="1600" dirty="0">
                <a:solidFill>
                  <a:schemeClr val="accent6"/>
                </a:solidFill>
              </a:rPr>
              <a:t>Electricity, Scope 2 emissions, and where the savings are</a:t>
            </a:r>
            <a:endParaRPr lang="en-US" sz="1600" dirty="0"/>
          </a:p>
        </p:txBody>
      </p:sp>
      <p:sp>
        <p:nvSpPr>
          <p:cNvPr id="5" name="Text 3"/>
          <p:cNvSpPr txBox="1"/>
          <p:nvPr/>
        </p:nvSpPr>
        <p:spPr>
          <a:xfrm>
            <a:off x="548640" y="4297680"/>
            <a:ext cx="5120640" cy="274320"/>
          </a:xfrm>
          <a:prstGeom prst="rect">
            <a:avLst/>
          </a:prstGeom>
          <a:noFill/>
          <a:ln/>
        </p:spPr>
        <p:txBody>
          <a:bodyPr wrap="square" lIns="0" tIns="0" rIns="0" bIns="0" rtlCol="0" anchor="ctr"/>
          <a:lstStyle/>
          <a:p>
            <a:pPr indent="0" marL="0">
              <a:buNone/>
            </a:pPr>
            <a:r>
              <a:rPr lang="en-US" sz="1100" dirty="0">
                <a:solidFill>
                  <a:schemeClr val="accent3"/>
                </a:solidFill>
              </a:rPr>
              <a:t>Nilima Gurjar  ·  Synthetic portfolio case study  ·  2026</a:t>
            </a:r>
            <a:endParaRPr lang="en-US" sz="1100" dirty="0"/>
          </a:p>
        </p:txBody>
      </p:sp>
      <p:sp>
        <p:nvSpPr>
          <p:cNvPr id="6" name="Gap ring"/>
          <p:cNvSpPr/>
          <p:nvPr/>
        </p:nvSpPr>
        <p:spPr>
          <a:xfrm>
            <a:off x="6172200" y="1051560"/>
            <a:ext cx="2514600" cy="2514600"/>
          </a:xfrm>
          <a:prstGeom prst="ellipse">
            <a:avLst/>
          </a:prstGeom>
          <a:solidFill>
            <a:schemeClr val="tx2"/>
          </a:solidFill>
          <a:ln w="38100">
            <a:solidFill>
              <a:schemeClr val="accent1"/>
            </a:solidFill>
            <a:prstDash val="solid"/>
          </a:ln>
        </p:spPr>
      </p:sp>
      <p:sp>
        <p:nvSpPr>
          <p:cNvPr id="7" name="Text 5"/>
          <p:cNvSpPr txBox="1"/>
          <p:nvPr/>
        </p:nvSpPr>
        <p:spPr>
          <a:xfrm>
            <a:off x="6172200" y="1691640"/>
            <a:ext cx="2514600" cy="822960"/>
          </a:xfrm>
          <a:prstGeom prst="rect">
            <a:avLst/>
          </a:prstGeom>
          <a:noFill/>
          <a:ln/>
        </p:spPr>
        <p:txBody>
          <a:bodyPr wrap="square" lIns="0" tIns="0" rIns="0" bIns="0" rtlCol="0" anchor="ctr"/>
          <a:lstStyle/>
          <a:p>
            <a:pPr algn="ctr" indent="0" marL="0">
              <a:buNone/>
            </a:pPr>
            <a:r>
              <a:rPr lang="en-US" sz="5200" b="1" dirty="0">
                <a:solidFill>
                  <a:schemeClr val="accent1"/>
                </a:solidFill>
                <a:latin typeface="Cambria" pitchFamily="34" charset="0"/>
                <a:ea typeface="Cambria" pitchFamily="34" charset="-122"/>
                <a:cs typeface="Cambria" pitchFamily="34" charset="-120"/>
              </a:rPr>
              <a:t>42%</a:t>
            </a:r>
            <a:endParaRPr lang="en-US" sz="5200" dirty="0"/>
          </a:p>
        </p:txBody>
      </p:sp>
      <p:sp>
        <p:nvSpPr>
          <p:cNvPr id="8" name="Text 6"/>
          <p:cNvSpPr txBox="1"/>
          <p:nvPr/>
        </p:nvSpPr>
        <p:spPr>
          <a:xfrm>
            <a:off x="6172200" y="2514600"/>
            <a:ext cx="2514600" cy="548640"/>
          </a:xfrm>
          <a:prstGeom prst="rect">
            <a:avLst/>
          </a:prstGeom>
          <a:noFill/>
          <a:ln/>
        </p:spPr>
        <p:txBody>
          <a:bodyPr wrap="square" lIns="0" tIns="0" rIns="0" bIns="0" rtlCol="0" anchor="ctr"/>
          <a:lstStyle/>
          <a:p>
            <a:pPr algn="ctr" indent="0" marL="0">
              <a:buNone/>
            </a:pPr>
            <a:r>
              <a:rPr lang="en-US" sz="1200" dirty="0">
                <a:solidFill>
                  <a:schemeClr val="bg1"/>
                </a:solidFill>
              </a:rPr>
              <a:t>of portfolio electricity</a:t>
            </a:r>
            <a:endParaRPr lang="en-US" sz="1200" dirty="0"/>
          </a:p>
          <a:p>
            <a:pPr algn="ctr" indent="0" marL="0">
              <a:buNone/>
            </a:pPr>
            <a:r>
              <a:rPr lang="en-US" sz="1200" dirty="0">
                <a:solidFill>
                  <a:schemeClr val="bg1"/>
                </a:solidFill>
              </a:rPr>
              <a:t>was never on a bill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314 GWh, 117k tCO₂, and 150 branches to target first</a:t>
            </a:r>
            <a:endParaRPr lang="en-US" sz="2600" dirty="0"/>
          </a:p>
        </p:txBody>
      </p:sp>
      <p:sp>
        <p:nvSpPr>
          <p:cNvPr id="3" name="Stat 1"/>
          <p:cNvSpPr/>
          <p:nvPr/>
        </p:nvSpPr>
        <p:spPr>
          <a:xfrm>
            <a:off x="457200" y="1325880"/>
            <a:ext cx="2596896" cy="2103120"/>
          </a:xfrm>
          <a:prstGeom prst="roundRect">
            <a:avLst>
              <a:gd name="adj" fmla="val 3478"/>
            </a:avLst>
          </a:prstGeom>
          <a:solidFill>
            <a:srgbClr val="EEF1F5"/>
          </a:solidFill>
          <a:ln w="12700">
            <a:solidFill>
              <a:srgbClr val="EEF1F5"/>
            </a:solidFill>
            <a:prstDash val="solid"/>
          </a:ln>
        </p:spPr>
      </p:sp>
      <p:sp>
        <p:nvSpPr>
          <p:cNvPr id="4" name="Text 2"/>
          <p:cNvSpPr txBox="1"/>
          <p:nvPr/>
        </p:nvSpPr>
        <p:spPr>
          <a:xfrm>
            <a:off x="685800" y="1554480"/>
            <a:ext cx="219456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314 GWh</a:t>
            </a:r>
            <a:endParaRPr lang="en-US" sz="3600" dirty="0"/>
          </a:p>
        </p:txBody>
      </p:sp>
      <p:sp>
        <p:nvSpPr>
          <p:cNvPr id="5" name="Text 3"/>
          <p:cNvSpPr txBox="1"/>
          <p:nvPr/>
        </p:nvSpPr>
        <p:spPr>
          <a:xfrm>
            <a:off x="685800" y="2331720"/>
            <a:ext cx="2194560" cy="320040"/>
          </a:xfrm>
          <a:prstGeom prst="rect">
            <a:avLst/>
          </a:prstGeom>
          <a:noFill/>
          <a:ln/>
        </p:spPr>
        <p:txBody>
          <a:bodyPr wrap="square" lIns="0" tIns="0" rIns="0" bIns="0" rtlCol="0" anchor="ctr"/>
          <a:lstStyle/>
          <a:p>
            <a:pPr indent="0" marL="0">
              <a:buNone/>
            </a:pPr>
            <a:r>
              <a:rPr lang="en-US" sz="1500" b="1" dirty="0">
                <a:solidFill>
                  <a:schemeClr val="tx1"/>
                </a:solidFill>
              </a:rPr>
              <a:t>Portfolio electricity</a:t>
            </a:r>
            <a:endParaRPr lang="en-US" sz="1500" dirty="0"/>
          </a:p>
        </p:txBody>
      </p:sp>
      <p:sp>
        <p:nvSpPr>
          <p:cNvPr id="6" name="Text 4"/>
          <p:cNvSpPr txBox="1"/>
          <p:nvPr/>
        </p:nvSpPr>
        <p:spPr>
          <a:xfrm>
            <a:off x="685800" y="2697480"/>
            <a:ext cx="2194560" cy="548640"/>
          </a:xfrm>
          <a:prstGeom prst="rect">
            <a:avLst/>
          </a:prstGeom>
          <a:noFill/>
          <a:ln/>
        </p:spPr>
        <p:txBody>
          <a:bodyPr wrap="square" lIns="0" tIns="0" rIns="0" bIns="0" rtlCol="0" anchor="ctr"/>
          <a:lstStyle/>
          <a:p>
            <a:pPr indent="0" marL="0">
              <a:buNone/>
            </a:pPr>
            <a:r>
              <a:rPr lang="en-US" sz="1200" dirty="0">
                <a:solidFill>
                  <a:schemeClr val="tx2"/>
                </a:solidFill>
              </a:rPr>
              <a:t>58% metered, 42% estimated with tested methods</a:t>
            </a:r>
            <a:endParaRPr lang="en-US" sz="1200" dirty="0"/>
          </a:p>
        </p:txBody>
      </p:sp>
      <p:sp>
        <p:nvSpPr>
          <p:cNvPr id="7" name="Stat 2"/>
          <p:cNvSpPr/>
          <p:nvPr/>
        </p:nvSpPr>
        <p:spPr>
          <a:xfrm>
            <a:off x="3273552" y="1325880"/>
            <a:ext cx="2596896" cy="2103120"/>
          </a:xfrm>
          <a:prstGeom prst="roundRect">
            <a:avLst>
              <a:gd name="adj" fmla="val 3478"/>
            </a:avLst>
          </a:prstGeom>
          <a:solidFill>
            <a:srgbClr val="EEF1F5"/>
          </a:solidFill>
          <a:ln w="12700">
            <a:solidFill>
              <a:srgbClr val="EEF1F5"/>
            </a:solidFill>
            <a:prstDash val="solid"/>
          </a:ln>
        </p:spPr>
      </p:sp>
      <p:sp>
        <p:nvSpPr>
          <p:cNvPr id="8" name="Text 6"/>
          <p:cNvSpPr txBox="1"/>
          <p:nvPr/>
        </p:nvSpPr>
        <p:spPr>
          <a:xfrm>
            <a:off x="3502152" y="1554480"/>
            <a:ext cx="2194560" cy="731520"/>
          </a:xfrm>
          <a:prstGeom prst="rect">
            <a:avLst/>
          </a:prstGeom>
          <a:noFill/>
          <a:ln/>
        </p:spPr>
        <p:txBody>
          <a:bodyPr wrap="square" lIns="0" tIns="0" rIns="0" bIns="0" rtlCol="0" anchor="ctr"/>
          <a:lstStyle/>
          <a:p>
            <a:pPr indent="0" marL="0">
              <a:buNone/>
            </a:pPr>
            <a:r>
              <a:rPr lang="en-US" sz="3600" b="1" dirty="0">
                <a:solidFill>
                  <a:schemeClr val="tx1"/>
                </a:solidFill>
                <a:latin typeface="Cambria" pitchFamily="34" charset="0"/>
                <a:ea typeface="Cambria" pitchFamily="34" charset="-122"/>
                <a:cs typeface="Cambria" pitchFamily="34" charset="-120"/>
              </a:rPr>
              <a:t>~117k tCO₂</a:t>
            </a:r>
            <a:endParaRPr lang="en-US" sz="3600" dirty="0"/>
          </a:p>
        </p:txBody>
      </p:sp>
      <p:sp>
        <p:nvSpPr>
          <p:cNvPr id="9" name="Text 7"/>
          <p:cNvSpPr txBox="1"/>
          <p:nvPr/>
        </p:nvSpPr>
        <p:spPr>
          <a:xfrm>
            <a:off x="3502152" y="2331720"/>
            <a:ext cx="2194560" cy="320040"/>
          </a:xfrm>
          <a:prstGeom prst="rect">
            <a:avLst/>
          </a:prstGeom>
          <a:noFill/>
          <a:ln/>
        </p:spPr>
        <p:txBody>
          <a:bodyPr wrap="square" lIns="0" tIns="0" rIns="0" bIns="0" rtlCol="0" anchor="ctr"/>
          <a:lstStyle/>
          <a:p>
            <a:pPr indent="0" marL="0">
              <a:buNone/>
            </a:pPr>
            <a:r>
              <a:rPr lang="en-US" sz="1500" b="1" dirty="0">
                <a:solidFill>
                  <a:schemeClr val="tx1"/>
                </a:solidFill>
              </a:rPr>
              <a:t>Location-based Scope 2</a:t>
            </a:r>
            <a:endParaRPr lang="en-US" sz="1500" dirty="0"/>
          </a:p>
        </p:txBody>
      </p:sp>
      <p:sp>
        <p:nvSpPr>
          <p:cNvPr id="10" name="Text 8"/>
          <p:cNvSpPr txBox="1"/>
          <p:nvPr/>
        </p:nvSpPr>
        <p:spPr>
          <a:xfrm>
            <a:off x="3502152" y="2697480"/>
            <a:ext cx="2194560" cy="548640"/>
          </a:xfrm>
          <a:prstGeom prst="rect">
            <a:avLst/>
          </a:prstGeom>
          <a:noFill/>
          <a:ln/>
        </p:spPr>
        <p:txBody>
          <a:bodyPr wrap="square" lIns="0" tIns="0" rIns="0" bIns="0" rtlCol="0" anchor="ctr"/>
          <a:lstStyle/>
          <a:p>
            <a:pPr indent="0" marL="0">
              <a:buNone/>
            </a:pPr>
            <a:r>
              <a:rPr lang="en-US" sz="1200" dirty="0">
                <a:solidFill>
                  <a:schemeClr val="tx2"/>
                </a:solidFill>
              </a:rPr>
              <a:t>eGRID2022 U.S. average factor</a:t>
            </a:r>
            <a:endParaRPr lang="en-US" sz="1200" dirty="0"/>
          </a:p>
        </p:txBody>
      </p:sp>
      <p:sp>
        <p:nvSpPr>
          <p:cNvPr id="11" name="Stat 3"/>
          <p:cNvSpPr/>
          <p:nvPr/>
        </p:nvSpPr>
        <p:spPr>
          <a:xfrm>
            <a:off x="6089904" y="1325880"/>
            <a:ext cx="2596896" cy="2103120"/>
          </a:xfrm>
          <a:prstGeom prst="roundRect">
            <a:avLst>
              <a:gd name="adj" fmla="val 3478"/>
            </a:avLst>
          </a:prstGeom>
          <a:solidFill>
            <a:srgbClr val="EEF1F5"/>
          </a:solidFill>
          <a:ln w="12700">
            <a:solidFill>
              <a:srgbClr val="EEF1F5"/>
            </a:solidFill>
            <a:prstDash val="solid"/>
          </a:ln>
        </p:spPr>
      </p:sp>
      <p:sp>
        <p:nvSpPr>
          <p:cNvPr id="12" name="Text 10"/>
          <p:cNvSpPr txBox="1"/>
          <p:nvPr/>
        </p:nvSpPr>
        <p:spPr>
          <a:xfrm>
            <a:off x="6318504" y="1554480"/>
            <a:ext cx="2194560" cy="73152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25.6 GWh</a:t>
            </a:r>
            <a:endParaRPr lang="en-US" sz="3600" dirty="0"/>
          </a:p>
        </p:txBody>
      </p:sp>
      <p:sp>
        <p:nvSpPr>
          <p:cNvPr id="13" name="Text 11"/>
          <p:cNvSpPr txBox="1"/>
          <p:nvPr/>
        </p:nvSpPr>
        <p:spPr>
          <a:xfrm>
            <a:off x="6318504" y="2331720"/>
            <a:ext cx="2194560" cy="320040"/>
          </a:xfrm>
          <a:prstGeom prst="rect">
            <a:avLst/>
          </a:prstGeom>
          <a:noFill/>
          <a:ln/>
        </p:spPr>
        <p:txBody>
          <a:bodyPr wrap="square" lIns="0" tIns="0" rIns="0" bIns="0" rtlCol="0" anchor="ctr"/>
          <a:lstStyle/>
          <a:p>
            <a:pPr indent="0" marL="0">
              <a:buNone/>
            </a:pPr>
            <a:r>
              <a:rPr lang="en-US" sz="1500" b="1" dirty="0">
                <a:solidFill>
                  <a:schemeClr val="tx1"/>
                </a:solidFill>
              </a:rPr>
              <a:t>Savings potential</a:t>
            </a:r>
            <a:endParaRPr lang="en-US" sz="1500" dirty="0"/>
          </a:p>
        </p:txBody>
      </p:sp>
      <p:sp>
        <p:nvSpPr>
          <p:cNvPr id="14" name="Text 12"/>
          <p:cNvSpPr txBox="1"/>
          <p:nvPr/>
        </p:nvSpPr>
        <p:spPr>
          <a:xfrm>
            <a:off x="6318504" y="2697480"/>
            <a:ext cx="2194560" cy="548640"/>
          </a:xfrm>
          <a:prstGeom prst="rect">
            <a:avLst/>
          </a:prstGeom>
          <a:noFill/>
          <a:ln/>
        </p:spPr>
        <p:txBody>
          <a:bodyPr wrap="square" lIns="0" tIns="0" rIns="0" bIns="0" rtlCol="0" anchor="ctr"/>
          <a:lstStyle/>
          <a:p>
            <a:pPr indent="0" marL="0">
              <a:buNone/>
            </a:pPr>
            <a:r>
              <a:rPr lang="en-US" sz="1200" dirty="0">
                <a:solidFill>
                  <a:schemeClr val="tx2"/>
                </a:solidFill>
              </a:rPr>
              <a:t>Half of it sits in just 150 branches</a:t>
            </a:r>
            <a:endParaRPr lang="en-US" sz="1200" dirty="0"/>
          </a:p>
        </p:txBody>
      </p:sp>
      <p:sp>
        <p:nvSpPr>
          <p:cNvPr id="15" name="Recommendation bar"/>
          <p:cNvSpPr/>
          <p:nvPr/>
        </p:nvSpPr>
        <p:spPr>
          <a:xfrm>
            <a:off x="457200" y="3703320"/>
            <a:ext cx="8229600" cy="777240"/>
          </a:xfrm>
          <a:prstGeom prst="roundRect">
            <a:avLst>
              <a:gd name="adj" fmla="val 9412"/>
            </a:avLst>
          </a:prstGeom>
          <a:solidFill>
            <a:srgbClr val="14213D"/>
          </a:solidFill>
          <a:ln w="12700">
            <a:solidFill>
              <a:srgbClr val="14213D"/>
            </a:solidFill>
            <a:prstDash val="solid"/>
          </a:ln>
        </p:spPr>
      </p:sp>
      <p:sp>
        <p:nvSpPr>
          <p:cNvPr id="16" name="Text 14"/>
          <p:cNvSpPr txBox="1"/>
          <p:nvPr/>
        </p:nvSpPr>
        <p:spPr>
          <a:xfrm>
            <a:off x="731520" y="3703320"/>
            <a:ext cx="7772400" cy="777240"/>
          </a:xfrm>
          <a:prstGeom prst="rect">
            <a:avLst/>
          </a:prstGeom>
          <a:noFill/>
          <a:ln/>
        </p:spPr>
        <p:txBody>
          <a:bodyPr wrap="square" lIns="0" tIns="0" rIns="0" bIns="0" rtlCol="0" anchor="ctr"/>
          <a:lstStyle/>
          <a:p>
            <a:pPr indent="0" marL="0">
              <a:buNone/>
            </a:pPr>
            <a:r>
              <a:rPr lang="en-US" sz="1400" b="1" dirty="0">
                <a:solidFill>
                  <a:schemeClr val="accent1"/>
                </a:solidFill>
              </a:rPr>
              <a:t>Recommendation  </a:t>
            </a:r>
            <a:pPr indent="0" marL="0">
              <a:buNone/>
            </a:pPr>
            <a:r>
              <a:rPr lang="en-US" sz="1400" dirty="0">
                <a:solidFill>
                  <a:schemeClr val="bg1"/>
                </a:solidFill>
              </a:rPr>
              <a:t>Audit the top 150 branches first, and replace electric-resistance heating at end of equipment life.</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Only half the branches report a full year of electricity</a:t>
            </a:r>
            <a:endParaRPr lang="en-US" sz="2600" dirty="0"/>
          </a:p>
        </p:txBody>
      </p:sp>
      <p:sp>
        <p:nvSpPr>
          <p:cNvPr id="3" name="Text 1"/>
          <p:cNvSpPr txBox="1"/>
          <p:nvPr/>
        </p:nvSpPr>
        <p:spPr>
          <a:xfrm>
            <a:off x="457200" y="1280160"/>
            <a:ext cx="3749040" cy="320040"/>
          </a:xfrm>
          <a:prstGeom prst="rect">
            <a:avLst/>
          </a:prstGeom>
          <a:noFill/>
          <a:ln/>
        </p:spPr>
        <p:txBody>
          <a:bodyPr wrap="square" lIns="0" tIns="0" rIns="0" bIns="0" rtlCol="0" anchor="ctr"/>
          <a:lstStyle/>
          <a:p>
            <a:pPr indent="0" marL="0">
              <a:buNone/>
            </a:pPr>
            <a:r>
              <a:rPr lang="en-US" sz="1500" b="1" dirty="0">
                <a:solidFill>
                  <a:schemeClr val="accent2"/>
                </a:solidFill>
              </a:rPr>
              <a:t>Problem statement</a:t>
            </a:r>
            <a:endParaRPr lang="en-US" sz="1500" dirty="0"/>
          </a:p>
        </p:txBody>
      </p:sp>
      <p:sp>
        <p:nvSpPr>
          <p:cNvPr id="4" name="Text 2"/>
          <p:cNvSpPr txBox="1"/>
          <p:nvPr/>
        </p:nvSpPr>
        <p:spPr>
          <a:xfrm>
            <a:off x="457200" y="1645920"/>
            <a:ext cx="3749040" cy="2651760"/>
          </a:xfrm>
          <a:prstGeom prst="rect">
            <a:avLst/>
          </a:prstGeom>
          <a:noFill/>
          <a:ln/>
        </p:spPr>
        <p:txBody>
          <a:bodyPr wrap="square" lIns="0" tIns="0" rIns="0" bIns="0" rtlCol="0" anchor="t"/>
          <a:lstStyle/>
          <a:p>
            <a:pPr indent="0" marL="0">
              <a:buNone/>
            </a:pPr>
            <a:r>
              <a:rPr lang="en-US" sz="1400" dirty="0">
                <a:solidFill>
                  <a:schemeClr val="tx1"/>
                </a:solidFill>
              </a:rPr>
              <a:t>Leadership needs a portfolio electricity and Scope 2 number it can defend to auditors and investors.</a:t>
            </a:r>
            <a:endParaRPr lang="en-US" sz="1400" dirty="0"/>
          </a:p>
          <a:p>
            <a:pPr indent="0" marL="0">
              <a:buNone/>
            </a:pPr>
            <a:r>
              <a:rPr lang="en-US" sz="600" dirty="0">
                <a:solidFill>
                  <a:schemeClr val="tx1"/>
                </a:solidFill>
              </a:rPr>
              <a:t> </a:t>
            </a:r>
            <a:endParaRPr lang="en-US" sz="1400" dirty="0"/>
          </a:p>
          <a:p>
            <a:pPr indent="0" marL="0">
              <a:buNone/>
            </a:pPr>
            <a:r>
              <a:rPr lang="en-US" sz="1400" dirty="0">
                <a:solidFill>
                  <a:schemeClr val="tx1"/>
                </a:solidFill>
              </a:rPr>
              <a:t>But 47% of branches have partial or no meter data, because the landlord pays, the meter is shared, or the site is unmetered.</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1"/>
                </a:solidFill>
              </a:rPr>
              <a:t>Summing the bills would undercount the portfolio by about 42%.</a:t>
            </a:r>
            <a:endParaRPr lang="en-US" sz="1400" dirty="0"/>
          </a:p>
        </p:txBody>
      </p:sp>
      <p:graphicFrame>
        <p:nvGraphicFramePr>
          <p:cNvPr id="5" name="Chart 0" descr=""/>
          <p:cNvGraphicFramePr/>
          <p:nvPr/>
        </p:nvGraphicFramePr>
        <p:xfrm>
          <a:off x="4572000" y="1188720"/>
          <a:ext cx="4114800"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Four questions shaped the analysis</a:t>
            </a:r>
            <a:endParaRPr lang="en-US" sz="2600" dirty="0"/>
          </a:p>
        </p:txBody>
      </p:sp>
      <p:sp>
        <p:nvSpPr>
          <p:cNvPr id="3" name="Question 1"/>
          <p:cNvSpPr/>
          <p:nvPr/>
        </p:nvSpPr>
        <p:spPr>
          <a:xfrm>
            <a:off x="457200" y="1280160"/>
            <a:ext cx="4023360" cy="1417320"/>
          </a:xfrm>
          <a:prstGeom prst="roundRect">
            <a:avLst>
              <a:gd name="adj" fmla="val 5161"/>
            </a:avLst>
          </a:prstGeom>
          <a:solidFill>
            <a:srgbClr val="EEF1F5"/>
          </a:solidFill>
          <a:ln w="12700">
            <a:solidFill>
              <a:srgbClr val="EEF1F5"/>
            </a:solidFill>
            <a:prstDash val="solid"/>
          </a:ln>
        </p:spPr>
      </p:sp>
      <p:sp>
        <p:nvSpPr>
          <p:cNvPr id="4" name="Shape 2"/>
          <p:cNvSpPr/>
          <p:nvPr/>
        </p:nvSpPr>
        <p:spPr>
          <a:xfrm>
            <a:off x="731520" y="1554480"/>
            <a:ext cx="502920" cy="502920"/>
          </a:xfrm>
          <a:prstGeom prst="ellipse">
            <a:avLst/>
          </a:prstGeom>
          <a:solidFill>
            <a:srgbClr val="14213D"/>
          </a:solidFill>
          <a:ln w="12700">
            <a:solidFill>
              <a:srgbClr val="14213D"/>
            </a:solidFill>
            <a:prstDash val="solid"/>
          </a:ln>
        </p:spPr>
      </p:sp>
      <p:sp>
        <p:nvSpPr>
          <p:cNvPr id="5" name="Text 3"/>
          <p:cNvSpPr txBox="1"/>
          <p:nvPr/>
        </p:nvSpPr>
        <p:spPr>
          <a:xfrm>
            <a:off x="731520" y="155448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6" name="Text 4"/>
          <p:cNvSpPr txBox="1"/>
          <p:nvPr/>
        </p:nvSpPr>
        <p:spPr>
          <a:xfrm>
            <a:off x="1417320" y="1508760"/>
            <a:ext cx="2880360" cy="685800"/>
          </a:xfrm>
          <a:prstGeom prst="rect">
            <a:avLst/>
          </a:prstGeom>
          <a:noFill/>
          <a:ln/>
        </p:spPr>
        <p:txBody>
          <a:bodyPr wrap="square" lIns="0" tIns="0" rIns="0" bIns="0" rtlCol="0" anchor="t"/>
          <a:lstStyle/>
          <a:p>
            <a:pPr indent="0" marL="0">
              <a:buNone/>
            </a:pPr>
            <a:r>
              <a:rPr lang="en-US" sz="1500" b="1" dirty="0">
                <a:solidFill>
                  <a:schemeClr val="tx1"/>
                </a:solidFill>
              </a:rPr>
              <a:t>How big is the data gap, and where is it?</a:t>
            </a:r>
            <a:endParaRPr lang="en-US" sz="1500" dirty="0"/>
          </a:p>
        </p:txBody>
      </p:sp>
      <p:sp>
        <p:nvSpPr>
          <p:cNvPr id="7" name="Text 5"/>
          <p:cNvSpPr txBox="1"/>
          <p:nvPr/>
        </p:nvSpPr>
        <p:spPr>
          <a:xfrm>
            <a:off x="1417320" y="2194560"/>
            <a:ext cx="2880360" cy="320040"/>
          </a:xfrm>
          <a:prstGeom prst="rect">
            <a:avLst/>
          </a:prstGeom>
          <a:noFill/>
          <a:ln/>
        </p:spPr>
        <p:txBody>
          <a:bodyPr wrap="square" lIns="0" tIns="0" rIns="0" bIns="0" rtlCol="0" anchor="ctr"/>
          <a:lstStyle/>
          <a:p>
            <a:pPr indent="0" marL="0">
              <a:buNone/>
            </a:pPr>
            <a:r>
              <a:rPr lang="en-US" sz="1200" dirty="0">
                <a:solidFill>
                  <a:schemeClr val="tx2"/>
                </a:solidFill>
              </a:rPr>
              <a:t>Coverage by branch, data tier, and fuel</a:t>
            </a:r>
            <a:endParaRPr lang="en-US" sz="1200" dirty="0"/>
          </a:p>
        </p:txBody>
      </p:sp>
      <p:sp>
        <p:nvSpPr>
          <p:cNvPr id="8" name="Question 2"/>
          <p:cNvSpPr/>
          <p:nvPr/>
        </p:nvSpPr>
        <p:spPr>
          <a:xfrm>
            <a:off x="4663440" y="1280160"/>
            <a:ext cx="4023360" cy="1417320"/>
          </a:xfrm>
          <a:prstGeom prst="roundRect">
            <a:avLst>
              <a:gd name="adj" fmla="val 5161"/>
            </a:avLst>
          </a:prstGeom>
          <a:solidFill>
            <a:srgbClr val="EEF1F5"/>
          </a:solidFill>
          <a:ln w="12700">
            <a:solidFill>
              <a:srgbClr val="EEF1F5"/>
            </a:solidFill>
            <a:prstDash val="solid"/>
          </a:ln>
        </p:spPr>
      </p:sp>
      <p:sp>
        <p:nvSpPr>
          <p:cNvPr id="9" name="Shape 7"/>
          <p:cNvSpPr/>
          <p:nvPr/>
        </p:nvSpPr>
        <p:spPr>
          <a:xfrm>
            <a:off x="4937760" y="1554480"/>
            <a:ext cx="502920" cy="502920"/>
          </a:xfrm>
          <a:prstGeom prst="ellipse">
            <a:avLst/>
          </a:prstGeom>
          <a:solidFill>
            <a:srgbClr val="14213D"/>
          </a:solidFill>
          <a:ln w="12700">
            <a:solidFill>
              <a:srgbClr val="14213D"/>
            </a:solidFill>
            <a:prstDash val="solid"/>
          </a:ln>
        </p:spPr>
      </p:sp>
      <p:sp>
        <p:nvSpPr>
          <p:cNvPr id="10" name="Text 8"/>
          <p:cNvSpPr txBox="1"/>
          <p:nvPr/>
        </p:nvSpPr>
        <p:spPr>
          <a:xfrm>
            <a:off x="4937760" y="155448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1" name="Text 9"/>
          <p:cNvSpPr txBox="1"/>
          <p:nvPr/>
        </p:nvSpPr>
        <p:spPr>
          <a:xfrm>
            <a:off x="5623560" y="1508760"/>
            <a:ext cx="2880360" cy="685800"/>
          </a:xfrm>
          <a:prstGeom prst="rect">
            <a:avLst/>
          </a:prstGeom>
          <a:noFill/>
          <a:ln/>
        </p:spPr>
        <p:txBody>
          <a:bodyPr wrap="square" lIns="0" tIns="0" rIns="0" bIns="0" rtlCol="0" anchor="t"/>
          <a:lstStyle/>
          <a:p>
            <a:pPr indent="0" marL="0">
              <a:buNone/>
            </a:pPr>
            <a:r>
              <a:rPr lang="en-US" sz="1500" b="1" dirty="0">
                <a:solidFill>
                  <a:schemeClr val="tx1"/>
                </a:solidFill>
              </a:rPr>
              <a:t>Are the anomalies errors or real behavior?</a:t>
            </a:r>
            <a:endParaRPr lang="en-US" sz="1500" dirty="0"/>
          </a:p>
        </p:txBody>
      </p:sp>
      <p:sp>
        <p:nvSpPr>
          <p:cNvPr id="12" name="Text 10"/>
          <p:cNvSpPr txBox="1"/>
          <p:nvPr/>
        </p:nvSpPr>
        <p:spPr>
          <a:xfrm>
            <a:off x="5623560" y="2194560"/>
            <a:ext cx="2880360" cy="320040"/>
          </a:xfrm>
          <a:prstGeom prst="rect">
            <a:avLst/>
          </a:prstGeom>
          <a:noFill/>
          <a:ln/>
        </p:spPr>
        <p:txBody>
          <a:bodyPr wrap="square" lIns="0" tIns="0" rIns="0" bIns="0" rtlCol="0" anchor="ctr"/>
          <a:lstStyle/>
          <a:p>
            <a:pPr indent="0" marL="0">
              <a:buNone/>
            </a:pPr>
            <a:r>
              <a:rPr lang="en-US" sz="1200" dirty="0">
                <a:solidFill>
                  <a:schemeClr val="tx2"/>
                </a:solidFill>
              </a:rPr>
              <a:t>Zero readings, outliers, duplicates</a:t>
            </a:r>
            <a:endParaRPr lang="en-US" sz="1200" dirty="0"/>
          </a:p>
        </p:txBody>
      </p:sp>
      <p:sp>
        <p:nvSpPr>
          <p:cNvPr id="13" name="Question 3"/>
          <p:cNvSpPr/>
          <p:nvPr/>
        </p:nvSpPr>
        <p:spPr>
          <a:xfrm>
            <a:off x="457200" y="2926080"/>
            <a:ext cx="4023360" cy="1417320"/>
          </a:xfrm>
          <a:prstGeom prst="roundRect">
            <a:avLst>
              <a:gd name="adj" fmla="val 5161"/>
            </a:avLst>
          </a:prstGeom>
          <a:solidFill>
            <a:srgbClr val="EEF1F5"/>
          </a:solidFill>
          <a:ln w="12700">
            <a:solidFill>
              <a:srgbClr val="EEF1F5"/>
            </a:solidFill>
            <a:prstDash val="solid"/>
          </a:ln>
        </p:spPr>
      </p:sp>
      <p:sp>
        <p:nvSpPr>
          <p:cNvPr id="14" name="Shape 12"/>
          <p:cNvSpPr/>
          <p:nvPr/>
        </p:nvSpPr>
        <p:spPr>
          <a:xfrm>
            <a:off x="731520" y="3200400"/>
            <a:ext cx="502920" cy="502920"/>
          </a:xfrm>
          <a:prstGeom prst="ellipse">
            <a:avLst/>
          </a:prstGeom>
          <a:solidFill>
            <a:srgbClr val="14213D"/>
          </a:solidFill>
          <a:ln w="12700">
            <a:solidFill>
              <a:srgbClr val="14213D"/>
            </a:solidFill>
            <a:prstDash val="solid"/>
          </a:ln>
        </p:spPr>
      </p:sp>
      <p:sp>
        <p:nvSpPr>
          <p:cNvPr id="15" name="Text 13"/>
          <p:cNvSpPr txBox="1"/>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6" name="Text 14"/>
          <p:cNvSpPr txBox="1"/>
          <p:nvPr/>
        </p:nvSpPr>
        <p:spPr>
          <a:xfrm>
            <a:off x="1417320" y="3154680"/>
            <a:ext cx="2880360" cy="685800"/>
          </a:xfrm>
          <a:prstGeom prst="rect">
            <a:avLst/>
          </a:prstGeom>
          <a:noFill/>
          <a:ln/>
        </p:spPr>
        <p:txBody>
          <a:bodyPr wrap="square" lIns="0" tIns="0" rIns="0" bIns="0" rtlCol="0" anchor="t"/>
          <a:lstStyle/>
          <a:p>
            <a:pPr indent="0" marL="0">
              <a:buNone/>
            </a:pPr>
            <a:r>
              <a:rPr lang="en-US" sz="1500" b="1" dirty="0">
                <a:solidFill>
                  <a:schemeClr val="tx1"/>
                </a:solidFill>
              </a:rPr>
              <a:t>How do we fill gaps in a way we can defend?</a:t>
            </a:r>
            <a:endParaRPr lang="en-US" sz="1500" dirty="0"/>
          </a:p>
        </p:txBody>
      </p:sp>
      <p:sp>
        <p:nvSpPr>
          <p:cNvPr id="17" name="Text 15"/>
          <p:cNvSpPr txBox="1"/>
          <p:nvPr/>
        </p:nvSpPr>
        <p:spPr>
          <a:xfrm>
            <a:off x="1417320" y="3840480"/>
            <a:ext cx="2880360" cy="320040"/>
          </a:xfrm>
          <a:prstGeom prst="rect">
            <a:avLst/>
          </a:prstGeom>
          <a:noFill/>
          <a:ln/>
        </p:spPr>
        <p:txBody>
          <a:bodyPr wrap="square" lIns="0" tIns="0" rIns="0" bIns="0" rtlCol="0" anchor="ctr"/>
          <a:lstStyle/>
          <a:p>
            <a:pPr indent="0" marL="0">
              <a:buNone/>
            </a:pPr>
            <a:r>
              <a:rPr lang="en-US" sz="1200" dirty="0">
                <a:solidFill>
                  <a:schemeClr val="tx2"/>
                </a:solidFill>
              </a:rPr>
              <a:t>Methods tested against known answers</a:t>
            </a:r>
            <a:endParaRPr lang="en-US" sz="1200" dirty="0"/>
          </a:p>
        </p:txBody>
      </p:sp>
      <p:sp>
        <p:nvSpPr>
          <p:cNvPr id="18" name="Question 4"/>
          <p:cNvSpPr/>
          <p:nvPr/>
        </p:nvSpPr>
        <p:spPr>
          <a:xfrm>
            <a:off x="4663440" y="2926080"/>
            <a:ext cx="4023360" cy="1417320"/>
          </a:xfrm>
          <a:prstGeom prst="roundRect">
            <a:avLst>
              <a:gd name="adj" fmla="val 5161"/>
            </a:avLst>
          </a:prstGeom>
          <a:solidFill>
            <a:srgbClr val="EEF1F5"/>
          </a:solidFill>
          <a:ln w="12700">
            <a:solidFill>
              <a:srgbClr val="EEF1F5"/>
            </a:solidFill>
            <a:prstDash val="solid"/>
          </a:ln>
        </p:spPr>
      </p:sp>
      <p:sp>
        <p:nvSpPr>
          <p:cNvPr id="19" name="Shape 17"/>
          <p:cNvSpPr/>
          <p:nvPr/>
        </p:nvSpPr>
        <p:spPr>
          <a:xfrm>
            <a:off x="4937760" y="3200400"/>
            <a:ext cx="502920" cy="502920"/>
          </a:xfrm>
          <a:prstGeom prst="ellipse">
            <a:avLst/>
          </a:prstGeom>
          <a:solidFill>
            <a:srgbClr val="14213D"/>
          </a:solidFill>
          <a:ln w="12700">
            <a:solidFill>
              <a:srgbClr val="14213D"/>
            </a:solidFill>
            <a:prstDash val="solid"/>
          </a:ln>
        </p:spPr>
      </p:sp>
      <p:sp>
        <p:nvSpPr>
          <p:cNvPr id="20" name="Text 18"/>
          <p:cNvSpPr txBox="1"/>
          <p:nvPr/>
        </p:nvSpPr>
        <p:spPr>
          <a:xfrm>
            <a:off x="4937760" y="32004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21" name="Text 19"/>
          <p:cNvSpPr txBox="1"/>
          <p:nvPr/>
        </p:nvSpPr>
        <p:spPr>
          <a:xfrm>
            <a:off x="5623560" y="3154680"/>
            <a:ext cx="2880360" cy="685800"/>
          </a:xfrm>
          <a:prstGeom prst="rect">
            <a:avLst/>
          </a:prstGeom>
          <a:noFill/>
          <a:ln/>
        </p:spPr>
        <p:txBody>
          <a:bodyPr wrap="square" lIns="0" tIns="0" rIns="0" bIns="0" rtlCol="0" anchor="t"/>
          <a:lstStyle/>
          <a:p>
            <a:pPr indent="0" marL="0">
              <a:buNone/>
            </a:pPr>
            <a:r>
              <a:rPr lang="en-US" sz="1500" b="1" dirty="0">
                <a:solidFill>
                  <a:schemeClr val="tx1"/>
                </a:solidFill>
              </a:rPr>
              <a:t>What drives electricity intensity, and where are the savings?</a:t>
            </a:r>
            <a:endParaRPr lang="en-US" sz="1500" dirty="0"/>
          </a:p>
        </p:txBody>
      </p:sp>
      <p:sp>
        <p:nvSpPr>
          <p:cNvPr id="22" name="Text 20"/>
          <p:cNvSpPr txBox="1"/>
          <p:nvPr/>
        </p:nvSpPr>
        <p:spPr>
          <a:xfrm>
            <a:off x="5623560" y="3840480"/>
            <a:ext cx="2880360" cy="320040"/>
          </a:xfrm>
          <a:prstGeom prst="rect">
            <a:avLst/>
          </a:prstGeom>
          <a:noFill/>
          <a:ln/>
        </p:spPr>
        <p:txBody>
          <a:bodyPr wrap="square" lIns="0" tIns="0" rIns="0" bIns="0" rtlCol="0" anchor="ctr"/>
          <a:lstStyle/>
          <a:p>
            <a:pPr indent="0" marL="0">
              <a:buNone/>
            </a:pPr>
            <a:r>
              <a:rPr lang="en-US" sz="1200" dirty="0">
                <a:solidFill>
                  <a:schemeClr val="tx2"/>
                </a:solidFill>
              </a:rPr>
              <a:t>Drivers, gap to peers, concentration</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Five steps from raw bills to a ranked savings list</a:t>
            </a:r>
            <a:endParaRPr lang="en-US" sz="2600" dirty="0"/>
          </a:p>
        </p:txBody>
      </p:sp>
      <p:sp>
        <p:nvSpPr>
          <p:cNvPr id="3" name="Step 1"/>
          <p:cNvSpPr/>
          <p:nvPr/>
        </p:nvSpPr>
        <p:spPr>
          <a:xfrm>
            <a:off x="457200" y="1325880"/>
            <a:ext cx="1517904" cy="2331720"/>
          </a:xfrm>
          <a:prstGeom prst="roundRect">
            <a:avLst>
              <a:gd name="adj" fmla="val 4819"/>
            </a:avLst>
          </a:prstGeom>
          <a:solidFill>
            <a:srgbClr val="EEF1F5"/>
          </a:solidFill>
          <a:ln w="12700">
            <a:solidFill>
              <a:srgbClr val="EEF1F5"/>
            </a:solidFill>
            <a:prstDash val="solid"/>
          </a:ln>
        </p:spPr>
      </p:sp>
      <p:sp>
        <p:nvSpPr>
          <p:cNvPr id="4" name="Shape 2"/>
          <p:cNvSpPr/>
          <p:nvPr/>
        </p:nvSpPr>
        <p:spPr>
          <a:xfrm>
            <a:off x="640080" y="1508760"/>
            <a:ext cx="411480" cy="411480"/>
          </a:xfrm>
          <a:prstGeom prst="ellipse">
            <a:avLst/>
          </a:prstGeom>
          <a:solidFill>
            <a:srgbClr val="14213D"/>
          </a:solidFill>
          <a:ln w="12700">
            <a:solidFill>
              <a:srgbClr val="14213D"/>
            </a:solidFill>
            <a:prstDash val="solid"/>
          </a:ln>
        </p:spPr>
      </p:sp>
      <p:sp>
        <p:nvSpPr>
          <p:cNvPr id="5" name="Text 3"/>
          <p:cNvSpPr txBox="1"/>
          <p:nvPr/>
        </p:nvSpPr>
        <p:spPr>
          <a:xfrm>
            <a:off x="640080" y="1508760"/>
            <a:ext cx="411480" cy="411480"/>
          </a:xfrm>
          <a:prstGeom prst="rect">
            <a:avLst/>
          </a:prstGeom>
          <a:noFill/>
          <a:ln/>
        </p:spPr>
        <p:txBody>
          <a:bodyPr wrap="square" lIns="0" tIns="0" rIns="0" bIns="0" rtlCol="0" anchor="ctr"/>
          <a:lstStyle/>
          <a:p>
            <a:pPr algn="ctr" indent="0" marL="0">
              <a:buNone/>
            </a:pPr>
            <a:r>
              <a:rPr lang="en-US" sz="1200" b="1" dirty="0">
                <a:solidFill>
                  <a:schemeClr val="accent1"/>
                </a:solidFill>
              </a:rPr>
              <a:t>1</a:t>
            </a:r>
            <a:endParaRPr lang="en-US" sz="1200" dirty="0"/>
          </a:p>
        </p:txBody>
      </p:sp>
      <p:sp>
        <p:nvSpPr>
          <p:cNvPr id="6" name="Text 4"/>
          <p:cNvSpPr txBox="1"/>
          <p:nvPr/>
        </p:nvSpPr>
        <p:spPr>
          <a:xfrm>
            <a:off x="640080" y="2029968"/>
            <a:ext cx="1197864" cy="320040"/>
          </a:xfrm>
          <a:prstGeom prst="rect">
            <a:avLst/>
          </a:prstGeom>
          <a:noFill/>
          <a:ln/>
        </p:spPr>
        <p:txBody>
          <a:bodyPr wrap="square" lIns="0" tIns="0" rIns="0" bIns="0" rtlCol="0" anchor="ctr"/>
          <a:lstStyle/>
          <a:p>
            <a:pPr indent="0" marL="0">
              <a:buNone/>
            </a:pPr>
            <a:r>
              <a:rPr lang="en-US" sz="1400" b="1" dirty="0">
                <a:solidFill>
                  <a:schemeClr val="tx1"/>
                </a:solidFill>
              </a:rPr>
              <a:t>Profile</a:t>
            </a:r>
            <a:endParaRPr lang="en-US" sz="1400" dirty="0"/>
          </a:p>
        </p:txBody>
      </p:sp>
      <p:sp>
        <p:nvSpPr>
          <p:cNvPr id="7" name="Text 5"/>
          <p:cNvSpPr txBox="1"/>
          <p:nvPr/>
        </p:nvSpPr>
        <p:spPr>
          <a:xfrm>
            <a:off x="640080" y="2377440"/>
            <a:ext cx="1197864" cy="777240"/>
          </a:xfrm>
          <a:prstGeom prst="rect">
            <a:avLst/>
          </a:prstGeom>
          <a:noFill/>
          <a:ln/>
        </p:spPr>
        <p:txBody>
          <a:bodyPr wrap="square" lIns="0" tIns="0" rIns="0" bIns="0" rtlCol="0" anchor="t"/>
          <a:lstStyle/>
          <a:p>
            <a:pPr indent="0" marL="0">
              <a:buNone/>
            </a:pPr>
            <a:r>
              <a:rPr lang="en-US" sz="1100" dirty="0">
                <a:solidFill>
                  <a:schemeClr val="tx2"/>
                </a:solidFill>
              </a:rPr>
              <a:t>Map coverage by branch and data tier</a:t>
            </a:r>
            <a:endParaRPr lang="en-US" sz="1100" dirty="0"/>
          </a:p>
        </p:txBody>
      </p:sp>
      <p:sp>
        <p:nvSpPr>
          <p:cNvPr id="8" name="Shape 6"/>
          <p:cNvSpPr/>
          <p:nvPr/>
        </p:nvSpPr>
        <p:spPr>
          <a:xfrm>
            <a:off x="594360" y="3200400"/>
            <a:ext cx="1243584" cy="292608"/>
          </a:xfrm>
          <a:prstGeom prst="roundRect">
            <a:avLst>
              <a:gd name="adj" fmla="val 50000"/>
            </a:avLst>
          </a:prstGeom>
          <a:solidFill>
            <a:srgbClr val="14213D"/>
          </a:solidFill>
          <a:ln w="12700">
            <a:solidFill>
              <a:srgbClr val="14213D"/>
            </a:solidFill>
            <a:prstDash val="solid"/>
          </a:ln>
        </p:spPr>
      </p:sp>
      <p:sp>
        <p:nvSpPr>
          <p:cNvPr id="9" name="Text 7"/>
          <p:cNvSpPr txBox="1"/>
          <p:nvPr/>
        </p:nvSpPr>
        <p:spPr>
          <a:xfrm>
            <a:off x="594360" y="3200400"/>
            <a:ext cx="1243584" cy="292608"/>
          </a:xfrm>
          <a:prstGeom prst="rect">
            <a:avLst/>
          </a:prstGeom>
          <a:noFill/>
          <a:ln/>
        </p:spPr>
        <p:txBody>
          <a:bodyPr wrap="square" lIns="0" tIns="0" rIns="0" bIns="0" rtlCol="0" anchor="ctr"/>
          <a:lstStyle/>
          <a:p>
            <a:pPr algn="ctr" indent="0" marL="0">
              <a:buNone/>
            </a:pPr>
            <a:r>
              <a:rPr lang="en-US" sz="1000" b="1" dirty="0">
                <a:solidFill>
                  <a:schemeClr val="bg1"/>
                </a:solidFill>
              </a:rPr>
              <a:t>SQL</a:t>
            </a:r>
            <a:endParaRPr lang="en-US" sz="1000" dirty="0"/>
          </a:p>
        </p:txBody>
      </p:sp>
      <p:sp>
        <p:nvSpPr>
          <p:cNvPr id="10" name="Step 2"/>
          <p:cNvSpPr/>
          <p:nvPr/>
        </p:nvSpPr>
        <p:spPr>
          <a:xfrm>
            <a:off x="2130552" y="1325880"/>
            <a:ext cx="1517904" cy="2331720"/>
          </a:xfrm>
          <a:prstGeom prst="roundRect">
            <a:avLst>
              <a:gd name="adj" fmla="val 4819"/>
            </a:avLst>
          </a:prstGeom>
          <a:solidFill>
            <a:srgbClr val="EEF1F5"/>
          </a:solidFill>
          <a:ln w="12700">
            <a:solidFill>
              <a:srgbClr val="EEF1F5"/>
            </a:solidFill>
            <a:prstDash val="solid"/>
          </a:ln>
        </p:spPr>
      </p:sp>
      <p:sp>
        <p:nvSpPr>
          <p:cNvPr id="11" name="Shape 9"/>
          <p:cNvSpPr/>
          <p:nvPr/>
        </p:nvSpPr>
        <p:spPr>
          <a:xfrm>
            <a:off x="2313432" y="1508760"/>
            <a:ext cx="411480" cy="411480"/>
          </a:xfrm>
          <a:prstGeom prst="ellipse">
            <a:avLst/>
          </a:prstGeom>
          <a:solidFill>
            <a:srgbClr val="14213D"/>
          </a:solidFill>
          <a:ln w="12700">
            <a:solidFill>
              <a:srgbClr val="14213D"/>
            </a:solidFill>
            <a:prstDash val="solid"/>
          </a:ln>
        </p:spPr>
      </p:sp>
      <p:sp>
        <p:nvSpPr>
          <p:cNvPr id="12" name="Text 10"/>
          <p:cNvSpPr txBox="1"/>
          <p:nvPr/>
        </p:nvSpPr>
        <p:spPr>
          <a:xfrm>
            <a:off x="2313432" y="1508760"/>
            <a:ext cx="411480" cy="411480"/>
          </a:xfrm>
          <a:prstGeom prst="rect">
            <a:avLst/>
          </a:prstGeom>
          <a:noFill/>
          <a:ln/>
        </p:spPr>
        <p:txBody>
          <a:bodyPr wrap="square" lIns="0" tIns="0" rIns="0" bIns="0" rtlCol="0" anchor="ctr"/>
          <a:lstStyle/>
          <a:p>
            <a:pPr algn="ctr" indent="0" marL="0">
              <a:buNone/>
            </a:pPr>
            <a:r>
              <a:rPr lang="en-US" sz="1200" b="1" dirty="0">
                <a:solidFill>
                  <a:schemeClr val="accent1"/>
                </a:solidFill>
              </a:rPr>
              <a:t>2</a:t>
            </a:r>
            <a:endParaRPr lang="en-US" sz="1200" dirty="0"/>
          </a:p>
        </p:txBody>
      </p:sp>
      <p:sp>
        <p:nvSpPr>
          <p:cNvPr id="13" name="Text 11"/>
          <p:cNvSpPr txBox="1"/>
          <p:nvPr/>
        </p:nvSpPr>
        <p:spPr>
          <a:xfrm>
            <a:off x="2313432" y="2029968"/>
            <a:ext cx="1197864" cy="320040"/>
          </a:xfrm>
          <a:prstGeom prst="rect">
            <a:avLst/>
          </a:prstGeom>
          <a:noFill/>
          <a:ln/>
        </p:spPr>
        <p:txBody>
          <a:bodyPr wrap="square" lIns="0" tIns="0" rIns="0" bIns="0" rtlCol="0" anchor="ctr"/>
          <a:lstStyle/>
          <a:p>
            <a:pPr indent="0" marL="0">
              <a:buNone/>
            </a:pPr>
            <a:r>
              <a:rPr lang="en-US" sz="1400" b="1" dirty="0">
                <a:solidFill>
                  <a:schemeClr val="tx1"/>
                </a:solidFill>
              </a:rPr>
              <a:t>Quality check</a:t>
            </a:r>
            <a:endParaRPr lang="en-US" sz="1400" dirty="0"/>
          </a:p>
        </p:txBody>
      </p:sp>
      <p:sp>
        <p:nvSpPr>
          <p:cNvPr id="14" name="Text 12"/>
          <p:cNvSpPr txBox="1"/>
          <p:nvPr/>
        </p:nvSpPr>
        <p:spPr>
          <a:xfrm>
            <a:off x="2313432" y="2377440"/>
            <a:ext cx="1197864" cy="777240"/>
          </a:xfrm>
          <a:prstGeom prst="rect">
            <a:avLst/>
          </a:prstGeom>
          <a:noFill/>
          <a:ln/>
        </p:spPr>
        <p:txBody>
          <a:bodyPr wrap="square" lIns="0" tIns="0" rIns="0" bIns="0" rtlCol="0" anchor="t"/>
          <a:lstStyle/>
          <a:p>
            <a:pPr indent="0" marL="0">
              <a:buNone/>
            </a:pPr>
            <a:r>
              <a:rPr lang="en-US" sz="1100" dirty="0">
                <a:solidFill>
                  <a:schemeClr val="tx2"/>
                </a:solidFill>
              </a:rPr>
              <a:t>Test zeros, outliers, and duplicates</a:t>
            </a:r>
            <a:endParaRPr lang="en-US" sz="1100" dirty="0"/>
          </a:p>
        </p:txBody>
      </p:sp>
      <p:sp>
        <p:nvSpPr>
          <p:cNvPr id="15" name="Shape 13"/>
          <p:cNvSpPr/>
          <p:nvPr/>
        </p:nvSpPr>
        <p:spPr>
          <a:xfrm>
            <a:off x="2267712" y="3200400"/>
            <a:ext cx="1243584" cy="292608"/>
          </a:xfrm>
          <a:prstGeom prst="roundRect">
            <a:avLst>
              <a:gd name="adj" fmla="val 50000"/>
            </a:avLst>
          </a:prstGeom>
          <a:solidFill>
            <a:srgbClr val="14213D"/>
          </a:solidFill>
          <a:ln w="12700">
            <a:solidFill>
              <a:srgbClr val="14213D"/>
            </a:solidFill>
            <a:prstDash val="solid"/>
          </a:ln>
        </p:spPr>
      </p:sp>
      <p:sp>
        <p:nvSpPr>
          <p:cNvPr id="16" name="Text 14"/>
          <p:cNvSpPr txBox="1"/>
          <p:nvPr/>
        </p:nvSpPr>
        <p:spPr>
          <a:xfrm>
            <a:off x="2267712" y="3200400"/>
            <a:ext cx="1243584" cy="292608"/>
          </a:xfrm>
          <a:prstGeom prst="rect">
            <a:avLst/>
          </a:prstGeom>
          <a:noFill/>
          <a:ln/>
        </p:spPr>
        <p:txBody>
          <a:bodyPr wrap="square" lIns="0" tIns="0" rIns="0" bIns="0" rtlCol="0" anchor="ctr"/>
          <a:lstStyle/>
          <a:p>
            <a:pPr algn="ctr" indent="0" marL="0">
              <a:buNone/>
            </a:pPr>
            <a:r>
              <a:rPr lang="en-US" sz="1000" b="1" dirty="0">
                <a:solidFill>
                  <a:schemeClr val="bg1"/>
                </a:solidFill>
              </a:rPr>
              <a:t>SQL</a:t>
            </a:r>
            <a:endParaRPr lang="en-US" sz="1000" dirty="0"/>
          </a:p>
        </p:txBody>
      </p:sp>
      <p:sp>
        <p:nvSpPr>
          <p:cNvPr id="17" name="Step 3"/>
          <p:cNvSpPr/>
          <p:nvPr/>
        </p:nvSpPr>
        <p:spPr>
          <a:xfrm>
            <a:off x="3803904" y="1325880"/>
            <a:ext cx="1517904" cy="2331720"/>
          </a:xfrm>
          <a:prstGeom prst="roundRect">
            <a:avLst>
              <a:gd name="adj" fmla="val 4819"/>
            </a:avLst>
          </a:prstGeom>
          <a:solidFill>
            <a:srgbClr val="EEF1F5"/>
          </a:solidFill>
          <a:ln w="12700">
            <a:solidFill>
              <a:srgbClr val="EEF1F5"/>
            </a:solidFill>
            <a:prstDash val="solid"/>
          </a:ln>
        </p:spPr>
      </p:sp>
      <p:sp>
        <p:nvSpPr>
          <p:cNvPr id="18" name="Shape 16"/>
          <p:cNvSpPr/>
          <p:nvPr/>
        </p:nvSpPr>
        <p:spPr>
          <a:xfrm>
            <a:off x="3986784" y="1508760"/>
            <a:ext cx="411480" cy="411480"/>
          </a:xfrm>
          <a:prstGeom prst="ellipse">
            <a:avLst/>
          </a:prstGeom>
          <a:solidFill>
            <a:srgbClr val="14213D"/>
          </a:solidFill>
          <a:ln w="12700">
            <a:solidFill>
              <a:srgbClr val="14213D"/>
            </a:solidFill>
            <a:prstDash val="solid"/>
          </a:ln>
        </p:spPr>
      </p:sp>
      <p:sp>
        <p:nvSpPr>
          <p:cNvPr id="19" name="Text 17"/>
          <p:cNvSpPr txBox="1"/>
          <p:nvPr/>
        </p:nvSpPr>
        <p:spPr>
          <a:xfrm>
            <a:off x="3986784" y="1508760"/>
            <a:ext cx="411480" cy="411480"/>
          </a:xfrm>
          <a:prstGeom prst="rect">
            <a:avLst/>
          </a:prstGeom>
          <a:noFill/>
          <a:ln/>
        </p:spPr>
        <p:txBody>
          <a:bodyPr wrap="square" lIns="0" tIns="0" rIns="0" bIns="0" rtlCol="0" anchor="ctr"/>
          <a:lstStyle/>
          <a:p>
            <a:pPr algn="ctr" indent="0" marL="0">
              <a:buNone/>
            </a:pPr>
            <a:r>
              <a:rPr lang="en-US" sz="1200" b="1" dirty="0">
                <a:solidFill>
                  <a:schemeClr val="accent1"/>
                </a:solidFill>
              </a:rPr>
              <a:t>3</a:t>
            </a:r>
            <a:endParaRPr lang="en-US" sz="1200" dirty="0"/>
          </a:p>
        </p:txBody>
      </p:sp>
      <p:sp>
        <p:nvSpPr>
          <p:cNvPr id="20" name="Text 18"/>
          <p:cNvSpPr txBox="1"/>
          <p:nvPr/>
        </p:nvSpPr>
        <p:spPr>
          <a:xfrm>
            <a:off x="3986784" y="2029968"/>
            <a:ext cx="1197864" cy="320040"/>
          </a:xfrm>
          <a:prstGeom prst="rect">
            <a:avLst/>
          </a:prstGeom>
          <a:noFill/>
          <a:ln/>
        </p:spPr>
        <p:txBody>
          <a:bodyPr wrap="square" lIns="0" tIns="0" rIns="0" bIns="0" rtlCol="0" anchor="ctr"/>
          <a:lstStyle/>
          <a:p>
            <a:pPr indent="0" marL="0">
              <a:buNone/>
            </a:pPr>
            <a:r>
              <a:rPr lang="en-US" sz="1400" b="1" dirty="0">
                <a:solidFill>
                  <a:schemeClr val="tx1"/>
                </a:solidFill>
              </a:rPr>
              <a:t>Annualize</a:t>
            </a:r>
            <a:endParaRPr lang="en-US" sz="1400" dirty="0"/>
          </a:p>
        </p:txBody>
      </p:sp>
      <p:sp>
        <p:nvSpPr>
          <p:cNvPr id="21" name="Text 19"/>
          <p:cNvSpPr txBox="1"/>
          <p:nvPr/>
        </p:nvSpPr>
        <p:spPr>
          <a:xfrm>
            <a:off x="3986784" y="2377440"/>
            <a:ext cx="1197864" cy="777240"/>
          </a:xfrm>
          <a:prstGeom prst="rect">
            <a:avLst/>
          </a:prstGeom>
          <a:noFill/>
          <a:ln/>
        </p:spPr>
        <p:txBody>
          <a:bodyPr wrap="square" lIns="0" tIns="0" rIns="0" bIns="0" rtlCol="0" anchor="t"/>
          <a:lstStyle/>
          <a:p>
            <a:pPr indent="0" marL="0">
              <a:buNone/>
            </a:pPr>
            <a:r>
              <a:rPr lang="en-US" sz="1100" dirty="0">
                <a:solidFill>
                  <a:schemeClr val="tx2"/>
                </a:solidFill>
              </a:rPr>
              <a:t>Scale partial years by state seasonality; backtest</a:t>
            </a:r>
            <a:endParaRPr lang="en-US" sz="1100" dirty="0"/>
          </a:p>
        </p:txBody>
      </p:sp>
      <p:sp>
        <p:nvSpPr>
          <p:cNvPr id="22" name="Shape 20"/>
          <p:cNvSpPr/>
          <p:nvPr/>
        </p:nvSpPr>
        <p:spPr>
          <a:xfrm>
            <a:off x="3941064" y="3200400"/>
            <a:ext cx="1243584" cy="292608"/>
          </a:xfrm>
          <a:prstGeom prst="roundRect">
            <a:avLst>
              <a:gd name="adj" fmla="val 50000"/>
            </a:avLst>
          </a:prstGeom>
          <a:solidFill>
            <a:srgbClr val="14213D"/>
          </a:solidFill>
          <a:ln w="12700">
            <a:solidFill>
              <a:srgbClr val="14213D"/>
            </a:solidFill>
            <a:prstDash val="solid"/>
          </a:ln>
        </p:spPr>
      </p:sp>
      <p:sp>
        <p:nvSpPr>
          <p:cNvPr id="23" name="Text 21"/>
          <p:cNvSpPr txBox="1"/>
          <p:nvPr/>
        </p:nvSpPr>
        <p:spPr>
          <a:xfrm>
            <a:off x="3941064" y="3200400"/>
            <a:ext cx="1243584" cy="292608"/>
          </a:xfrm>
          <a:prstGeom prst="rect">
            <a:avLst/>
          </a:prstGeom>
          <a:noFill/>
          <a:ln/>
        </p:spPr>
        <p:txBody>
          <a:bodyPr wrap="square" lIns="0" tIns="0" rIns="0" bIns="0" rtlCol="0" anchor="ctr"/>
          <a:lstStyle/>
          <a:p>
            <a:pPr algn="ctr" indent="0" marL="0">
              <a:buNone/>
            </a:pPr>
            <a:r>
              <a:rPr lang="en-US" sz="1000" b="1" dirty="0">
                <a:solidFill>
                  <a:schemeClr val="bg1"/>
                </a:solidFill>
              </a:rPr>
              <a:t>SQL · window fns</a:t>
            </a:r>
            <a:endParaRPr lang="en-US" sz="1000" dirty="0"/>
          </a:p>
        </p:txBody>
      </p:sp>
      <p:sp>
        <p:nvSpPr>
          <p:cNvPr id="24" name="Step 4"/>
          <p:cNvSpPr/>
          <p:nvPr/>
        </p:nvSpPr>
        <p:spPr>
          <a:xfrm>
            <a:off x="5477256" y="1325880"/>
            <a:ext cx="1517904" cy="2331720"/>
          </a:xfrm>
          <a:prstGeom prst="roundRect">
            <a:avLst>
              <a:gd name="adj" fmla="val 4819"/>
            </a:avLst>
          </a:prstGeom>
          <a:solidFill>
            <a:srgbClr val="EEF1F5"/>
          </a:solidFill>
          <a:ln w="12700">
            <a:solidFill>
              <a:srgbClr val="EEF1F5"/>
            </a:solidFill>
            <a:prstDash val="solid"/>
          </a:ln>
        </p:spPr>
      </p:sp>
      <p:sp>
        <p:nvSpPr>
          <p:cNvPr id="25" name="Shape 23"/>
          <p:cNvSpPr/>
          <p:nvPr/>
        </p:nvSpPr>
        <p:spPr>
          <a:xfrm>
            <a:off x="5660136" y="1508760"/>
            <a:ext cx="411480" cy="411480"/>
          </a:xfrm>
          <a:prstGeom prst="ellipse">
            <a:avLst/>
          </a:prstGeom>
          <a:solidFill>
            <a:srgbClr val="14213D"/>
          </a:solidFill>
          <a:ln w="12700">
            <a:solidFill>
              <a:srgbClr val="14213D"/>
            </a:solidFill>
            <a:prstDash val="solid"/>
          </a:ln>
        </p:spPr>
      </p:sp>
      <p:sp>
        <p:nvSpPr>
          <p:cNvPr id="26" name="Text 24"/>
          <p:cNvSpPr txBox="1"/>
          <p:nvPr/>
        </p:nvSpPr>
        <p:spPr>
          <a:xfrm>
            <a:off x="5660136" y="1508760"/>
            <a:ext cx="411480" cy="411480"/>
          </a:xfrm>
          <a:prstGeom prst="rect">
            <a:avLst/>
          </a:prstGeom>
          <a:noFill/>
          <a:ln/>
        </p:spPr>
        <p:txBody>
          <a:bodyPr wrap="square" lIns="0" tIns="0" rIns="0" bIns="0" rtlCol="0" anchor="ctr"/>
          <a:lstStyle/>
          <a:p>
            <a:pPr algn="ctr" indent="0" marL="0">
              <a:buNone/>
            </a:pPr>
            <a:r>
              <a:rPr lang="en-US" sz="1200" b="1" dirty="0">
                <a:solidFill>
                  <a:schemeClr val="accent1"/>
                </a:solidFill>
              </a:rPr>
              <a:t>4</a:t>
            </a:r>
            <a:endParaRPr lang="en-US" sz="1200" dirty="0"/>
          </a:p>
        </p:txBody>
      </p:sp>
      <p:sp>
        <p:nvSpPr>
          <p:cNvPr id="27" name="Text 25"/>
          <p:cNvSpPr txBox="1"/>
          <p:nvPr/>
        </p:nvSpPr>
        <p:spPr>
          <a:xfrm>
            <a:off x="5660136" y="2029968"/>
            <a:ext cx="1197864" cy="320040"/>
          </a:xfrm>
          <a:prstGeom prst="rect">
            <a:avLst/>
          </a:prstGeom>
          <a:noFill/>
          <a:ln/>
        </p:spPr>
        <p:txBody>
          <a:bodyPr wrap="square" lIns="0" tIns="0" rIns="0" bIns="0" rtlCol="0" anchor="ctr"/>
          <a:lstStyle/>
          <a:p>
            <a:pPr indent="0" marL="0">
              <a:buNone/>
            </a:pPr>
            <a:r>
              <a:rPr lang="en-US" sz="1400" b="1" dirty="0">
                <a:solidFill>
                  <a:schemeClr val="tx1"/>
                </a:solidFill>
              </a:rPr>
              <a:t>Model</a:t>
            </a:r>
            <a:endParaRPr lang="en-US" sz="1400" dirty="0"/>
          </a:p>
        </p:txBody>
      </p:sp>
      <p:sp>
        <p:nvSpPr>
          <p:cNvPr id="28" name="Text 26"/>
          <p:cNvSpPr txBox="1"/>
          <p:nvPr/>
        </p:nvSpPr>
        <p:spPr>
          <a:xfrm>
            <a:off x="5660136" y="2377440"/>
            <a:ext cx="1197864" cy="777240"/>
          </a:xfrm>
          <a:prstGeom prst="rect">
            <a:avLst/>
          </a:prstGeom>
          <a:noFill/>
          <a:ln/>
        </p:spPr>
        <p:txBody>
          <a:bodyPr wrap="square" lIns="0" tIns="0" rIns="0" bIns="0" rtlCol="0" anchor="t"/>
          <a:lstStyle/>
          <a:p>
            <a:pPr indent="0" marL="0">
              <a:buNone/>
            </a:pPr>
            <a:r>
              <a:rPr lang="en-US" sz="1100" dirty="0">
                <a:solidFill>
                  <a:schemeClr val="tx2"/>
                </a:solidFill>
              </a:rPr>
              <a:t>Regression for unmetered branches; 5-fold CV</a:t>
            </a:r>
            <a:endParaRPr lang="en-US" sz="1100" dirty="0"/>
          </a:p>
        </p:txBody>
      </p:sp>
      <p:sp>
        <p:nvSpPr>
          <p:cNvPr id="29" name="Shape 27"/>
          <p:cNvSpPr/>
          <p:nvPr/>
        </p:nvSpPr>
        <p:spPr>
          <a:xfrm>
            <a:off x="5614416" y="3200400"/>
            <a:ext cx="1243584" cy="292608"/>
          </a:xfrm>
          <a:prstGeom prst="roundRect">
            <a:avLst>
              <a:gd name="adj" fmla="val 50000"/>
            </a:avLst>
          </a:prstGeom>
          <a:solidFill>
            <a:srgbClr val="2A9D8F"/>
          </a:solidFill>
          <a:ln w="12700">
            <a:solidFill>
              <a:srgbClr val="2A9D8F"/>
            </a:solidFill>
            <a:prstDash val="solid"/>
          </a:ln>
        </p:spPr>
      </p:sp>
      <p:sp>
        <p:nvSpPr>
          <p:cNvPr id="30" name="Text 28"/>
          <p:cNvSpPr txBox="1"/>
          <p:nvPr/>
        </p:nvSpPr>
        <p:spPr>
          <a:xfrm>
            <a:off x="5614416" y="3200400"/>
            <a:ext cx="1243584" cy="292608"/>
          </a:xfrm>
          <a:prstGeom prst="rect">
            <a:avLst/>
          </a:prstGeom>
          <a:noFill/>
          <a:ln/>
        </p:spPr>
        <p:txBody>
          <a:bodyPr wrap="square" lIns="0" tIns="0" rIns="0" bIns="0" rtlCol="0" anchor="ctr"/>
          <a:lstStyle/>
          <a:p>
            <a:pPr algn="ctr" indent="0" marL="0">
              <a:buNone/>
            </a:pPr>
            <a:r>
              <a:rPr lang="en-US" sz="1000" b="1" dirty="0">
                <a:solidFill>
                  <a:schemeClr val="bg1"/>
                </a:solidFill>
              </a:rPr>
              <a:t>Python · statsmodels</a:t>
            </a:r>
            <a:endParaRPr lang="en-US" sz="1000" dirty="0"/>
          </a:p>
        </p:txBody>
      </p:sp>
      <p:sp>
        <p:nvSpPr>
          <p:cNvPr id="31" name="Step 5"/>
          <p:cNvSpPr/>
          <p:nvPr/>
        </p:nvSpPr>
        <p:spPr>
          <a:xfrm>
            <a:off x="7150608" y="1325880"/>
            <a:ext cx="1517904" cy="2331720"/>
          </a:xfrm>
          <a:prstGeom prst="roundRect">
            <a:avLst>
              <a:gd name="adj" fmla="val 4819"/>
            </a:avLst>
          </a:prstGeom>
          <a:solidFill>
            <a:srgbClr val="EEF1F5"/>
          </a:solidFill>
          <a:ln w="12700">
            <a:solidFill>
              <a:srgbClr val="EEF1F5"/>
            </a:solidFill>
            <a:prstDash val="solid"/>
          </a:ln>
        </p:spPr>
      </p:sp>
      <p:sp>
        <p:nvSpPr>
          <p:cNvPr id="32" name="Shape 30"/>
          <p:cNvSpPr/>
          <p:nvPr/>
        </p:nvSpPr>
        <p:spPr>
          <a:xfrm>
            <a:off x="7333488" y="1508760"/>
            <a:ext cx="411480" cy="411480"/>
          </a:xfrm>
          <a:prstGeom prst="ellipse">
            <a:avLst/>
          </a:prstGeom>
          <a:solidFill>
            <a:srgbClr val="14213D"/>
          </a:solidFill>
          <a:ln w="12700">
            <a:solidFill>
              <a:srgbClr val="14213D"/>
            </a:solidFill>
            <a:prstDash val="solid"/>
          </a:ln>
        </p:spPr>
      </p:sp>
      <p:sp>
        <p:nvSpPr>
          <p:cNvPr id="33" name="Text 31"/>
          <p:cNvSpPr txBox="1"/>
          <p:nvPr/>
        </p:nvSpPr>
        <p:spPr>
          <a:xfrm>
            <a:off x="7333488" y="1508760"/>
            <a:ext cx="411480" cy="411480"/>
          </a:xfrm>
          <a:prstGeom prst="rect">
            <a:avLst/>
          </a:prstGeom>
          <a:no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34" name="Text 32"/>
          <p:cNvSpPr txBox="1"/>
          <p:nvPr/>
        </p:nvSpPr>
        <p:spPr>
          <a:xfrm>
            <a:off x="7333488" y="2029968"/>
            <a:ext cx="1197864" cy="320040"/>
          </a:xfrm>
          <a:prstGeom prst="rect">
            <a:avLst/>
          </a:prstGeom>
          <a:noFill/>
          <a:ln/>
        </p:spPr>
        <p:txBody>
          <a:bodyPr wrap="square" lIns="0" tIns="0" rIns="0" bIns="0" rtlCol="0" anchor="ctr"/>
          <a:lstStyle/>
          <a:p>
            <a:pPr indent="0" marL="0">
              <a:buNone/>
            </a:pPr>
            <a:r>
              <a:rPr lang="en-US" sz="1400" b="1" dirty="0">
                <a:solidFill>
                  <a:schemeClr val="tx1"/>
                </a:solidFill>
              </a:rPr>
              <a:t>Roll up &amp; rank</a:t>
            </a:r>
            <a:endParaRPr lang="en-US" sz="1400" dirty="0"/>
          </a:p>
        </p:txBody>
      </p:sp>
      <p:sp>
        <p:nvSpPr>
          <p:cNvPr id="35" name="Text 33"/>
          <p:cNvSpPr txBox="1"/>
          <p:nvPr/>
        </p:nvSpPr>
        <p:spPr>
          <a:xfrm>
            <a:off x="7333488" y="2377440"/>
            <a:ext cx="1197864" cy="777240"/>
          </a:xfrm>
          <a:prstGeom prst="rect">
            <a:avLst/>
          </a:prstGeom>
          <a:noFill/>
          <a:ln/>
        </p:spPr>
        <p:txBody>
          <a:bodyPr wrap="square" lIns="0" tIns="0" rIns="0" bIns="0" rtlCol="0" anchor="t"/>
          <a:lstStyle/>
          <a:p>
            <a:pPr indent="0" marL="0">
              <a:buNone/>
            </a:pPr>
            <a:r>
              <a:rPr lang="en-US" sz="1100" dirty="0">
                <a:solidFill>
                  <a:schemeClr val="tx2"/>
                </a:solidFill>
              </a:rPr>
              <a:t>Totals, Scope 2, gap to format median</a:t>
            </a:r>
            <a:endParaRPr lang="en-US" sz="1100" dirty="0"/>
          </a:p>
        </p:txBody>
      </p:sp>
      <p:sp>
        <p:nvSpPr>
          <p:cNvPr id="36" name="Shape 34"/>
          <p:cNvSpPr/>
          <p:nvPr/>
        </p:nvSpPr>
        <p:spPr>
          <a:xfrm>
            <a:off x="7287768" y="3200400"/>
            <a:ext cx="1243584" cy="292608"/>
          </a:xfrm>
          <a:prstGeom prst="roundRect">
            <a:avLst>
              <a:gd name="adj" fmla="val 50000"/>
            </a:avLst>
          </a:prstGeom>
          <a:solidFill>
            <a:srgbClr val="14213D"/>
          </a:solidFill>
          <a:ln w="12700">
            <a:solidFill>
              <a:srgbClr val="14213D"/>
            </a:solidFill>
            <a:prstDash val="solid"/>
          </a:ln>
        </p:spPr>
      </p:sp>
      <p:sp>
        <p:nvSpPr>
          <p:cNvPr id="37" name="Text 35"/>
          <p:cNvSpPr txBox="1"/>
          <p:nvPr/>
        </p:nvSpPr>
        <p:spPr>
          <a:xfrm>
            <a:off x="7287768" y="3200400"/>
            <a:ext cx="1243584" cy="292608"/>
          </a:xfrm>
          <a:prstGeom prst="rect">
            <a:avLst/>
          </a:prstGeom>
          <a:noFill/>
          <a:ln/>
        </p:spPr>
        <p:txBody>
          <a:bodyPr wrap="square" lIns="0" tIns="0" rIns="0" bIns="0" rtlCol="0" anchor="ctr"/>
          <a:lstStyle/>
          <a:p>
            <a:pPr algn="ctr" indent="0" marL="0">
              <a:buNone/>
            </a:pPr>
            <a:r>
              <a:rPr lang="en-US" sz="1000" b="1" dirty="0">
                <a:solidFill>
                  <a:schemeClr val="bg1"/>
                </a:solidFill>
              </a:rPr>
              <a:t>SQL + Python</a:t>
            </a:r>
            <a:endParaRPr lang="en-US" sz="1000" dirty="0"/>
          </a:p>
        </p:txBody>
      </p:sp>
      <p:sp>
        <p:nvSpPr>
          <p:cNvPr id="38" name="Text 36"/>
          <p:cNvSpPr txBox="1"/>
          <p:nvPr/>
        </p:nvSpPr>
        <p:spPr>
          <a:xfrm>
            <a:off x="457200" y="3977640"/>
            <a:ext cx="8229600" cy="365760"/>
          </a:xfrm>
          <a:prstGeom prst="rect">
            <a:avLst/>
          </a:prstGeom>
          <a:noFill/>
          <a:ln/>
        </p:spPr>
        <p:txBody>
          <a:bodyPr wrap="square" lIns="0" tIns="0" rIns="0" bIns="0" rtlCol="0" anchor="ctr"/>
          <a:lstStyle/>
          <a:p>
            <a:pPr indent="0" marL="0">
              <a:buNone/>
            </a:pPr>
            <a:r>
              <a:rPr lang="en-US" sz="1300" b="1" dirty="0">
                <a:solidFill>
                  <a:schemeClr val="accent2"/>
                </a:solidFill>
              </a:rPr>
              <a:t>Inputs  </a:t>
            </a:r>
            <a:pPr indent="0" marL="0">
              <a:buNone/>
            </a:pPr>
            <a:r>
              <a:rPr lang="en-US" sz="1300" dirty="0">
                <a:solidFill>
                  <a:schemeClr val="tx1"/>
                </a:solidFill>
              </a:rPr>
              <a:t>4,000 branches  ·  50,312 monthly records  ·  5 fuel types  ·  12 months (2025)  ·  EPA eGRID2022</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The anomalies were real behavior, not bad data</a:t>
            </a:r>
            <a:endParaRPr lang="en-US" sz="2600" dirty="0"/>
          </a:p>
        </p:txBody>
      </p:sp>
      <p:sp>
        <p:nvSpPr>
          <p:cNvPr id="3" name="DQ 1"/>
          <p:cNvSpPr/>
          <p:nvPr/>
        </p:nvSpPr>
        <p:spPr>
          <a:xfrm>
            <a:off x="457200" y="1325880"/>
            <a:ext cx="4023360" cy="2148840"/>
          </a:xfrm>
          <a:prstGeom prst="roundRect">
            <a:avLst>
              <a:gd name="adj" fmla="val 3404"/>
            </a:avLst>
          </a:prstGeom>
          <a:solidFill>
            <a:srgbClr val="EEF1F5"/>
          </a:solidFill>
          <a:ln w="12700">
            <a:solidFill>
              <a:srgbClr val="EEF1F5"/>
            </a:solidFill>
            <a:prstDash val="solid"/>
          </a:ln>
        </p:spPr>
      </p:sp>
      <p:sp>
        <p:nvSpPr>
          <p:cNvPr id="4" name="Text 2"/>
          <p:cNvSpPr txBox="1"/>
          <p:nvPr/>
        </p:nvSpPr>
        <p:spPr>
          <a:xfrm>
            <a:off x="731520" y="1508760"/>
            <a:ext cx="34747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202</a:t>
            </a:r>
            <a:endParaRPr lang="en-US" sz="4000" dirty="0"/>
          </a:p>
        </p:txBody>
      </p:sp>
      <p:sp>
        <p:nvSpPr>
          <p:cNvPr id="5" name="Text 3"/>
          <p:cNvSpPr txBox="1"/>
          <p:nvPr/>
        </p:nvSpPr>
        <p:spPr>
          <a:xfrm>
            <a:off x="731520" y="224028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zero-kWh months</a:t>
            </a:r>
            <a:endParaRPr lang="en-US" sz="1500" dirty="0"/>
          </a:p>
        </p:txBody>
      </p:sp>
      <p:sp>
        <p:nvSpPr>
          <p:cNvPr id="6" name="Text 4"/>
          <p:cNvSpPr txBox="1"/>
          <p:nvPr/>
        </p:nvSpPr>
        <p:spPr>
          <a:xfrm>
            <a:off x="731520" y="2606040"/>
            <a:ext cx="3474720" cy="685800"/>
          </a:xfrm>
          <a:prstGeom prst="rect">
            <a:avLst/>
          </a:prstGeom>
          <a:noFill/>
          <a:ln/>
        </p:spPr>
        <p:txBody>
          <a:bodyPr wrap="square" lIns="0" tIns="0" rIns="0" bIns="0" rtlCol="0" anchor="t"/>
          <a:lstStyle/>
          <a:p>
            <a:pPr indent="0" marL="0">
              <a:buNone/>
            </a:pPr>
            <a:r>
              <a:rPr lang="en-US" sz="1300" dirty="0">
                <a:solidFill>
                  <a:schemeClr val="tx2"/>
                </a:solidFill>
              </a:rPr>
              <a:t>All at 30 net-metered solar sites. Solar covered demand, so the readings are valid.</a:t>
            </a:r>
            <a:endParaRPr lang="en-US" sz="1300" dirty="0"/>
          </a:p>
        </p:txBody>
      </p:sp>
      <p:sp>
        <p:nvSpPr>
          <p:cNvPr id="7" name="DQ 2"/>
          <p:cNvSpPr/>
          <p:nvPr/>
        </p:nvSpPr>
        <p:spPr>
          <a:xfrm>
            <a:off x="4663440" y="1325880"/>
            <a:ext cx="4023360" cy="2148840"/>
          </a:xfrm>
          <a:prstGeom prst="roundRect">
            <a:avLst>
              <a:gd name="adj" fmla="val 3404"/>
            </a:avLst>
          </a:prstGeom>
          <a:solidFill>
            <a:srgbClr val="EEF1F5"/>
          </a:solidFill>
          <a:ln w="12700">
            <a:solidFill>
              <a:srgbClr val="EEF1F5"/>
            </a:solidFill>
            <a:prstDash val="solid"/>
          </a:ln>
        </p:spPr>
      </p:sp>
      <p:sp>
        <p:nvSpPr>
          <p:cNvPr id="8" name="Text 6"/>
          <p:cNvSpPr txBox="1"/>
          <p:nvPr/>
        </p:nvSpPr>
        <p:spPr>
          <a:xfrm>
            <a:off x="4937760" y="1508760"/>
            <a:ext cx="347472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11 of 14</a:t>
            </a:r>
            <a:endParaRPr lang="en-US" sz="4000" dirty="0"/>
          </a:p>
        </p:txBody>
      </p:sp>
      <p:sp>
        <p:nvSpPr>
          <p:cNvPr id="9" name="Text 7"/>
          <p:cNvSpPr txBox="1"/>
          <p:nvPr/>
        </p:nvSpPr>
        <p:spPr>
          <a:xfrm>
            <a:off x="4937760" y="224028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intensity outliers</a:t>
            </a:r>
            <a:endParaRPr lang="en-US" sz="1500" dirty="0"/>
          </a:p>
        </p:txBody>
      </p:sp>
      <p:sp>
        <p:nvSpPr>
          <p:cNvPr id="10" name="Text 8"/>
          <p:cNvSpPr txBox="1"/>
          <p:nvPr/>
        </p:nvSpPr>
        <p:spPr>
          <a:xfrm>
            <a:off x="4937760" y="2606040"/>
            <a:ext cx="3474720" cy="685800"/>
          </a:xfrm>
          <a:prstGeom prst="rect">
            <a:avLst/>
          </a:prstGeom>
          <a:noFill/>
          <a:ln/>
        </p:spPr>
        <p:txBody>
          <a:bodyPr wrap="square" lIns="0" tIns="0" rIns="0" bIns="0" rtlCol="0" anchor="t"/>
          <a:lstStyle/>
          <a:p>
            <a:pPr indent="0" marL="0">
              <a:buNone/>
            </a:pPr>
            <a:r>
              <a:rPr lang="en-US" sz="1300" dirty="0">
                <a:solidFill>
                  <a:schemeClr val="tx2"/>
                </a:solidFill>
              </a:rPr>
              <a:t>Small drive-thru branches, where kWh per sq ft runs high by design.</a:t>
            </a:r>
            <a:endParaRPr lang="en-US" sz="1300" dirty="0"/>
          </a:p>
        </p:txBody>
      </p:sp>
      <p:sp>
        <p:nvSpPr>
          <p:cNvPr id="11" name="Takeaway bar"/>
          <p:cNvSpPr/>
          <p:nvPr/>
        </p:nvSpPr>
        <p:spPr>
          <a:xfrm>
            <a:off x="457200" y="3749040"/>
            <a:ext cx="8229600" cy="685800"/>
          </a:xfrm>
          <a:prstGeom prst="roundRect">
            <a:avLst>
              <a:gd name="adj" fmla="val 10667"/>
            </a:avLst>
          </a:prstGeom>
          <a:solidFill>
            <a:srgbClr val="14213D"/>
          </a:solidFill>
          <a:ln w="12700">
            <a:solidFill>
              <a:srgbClr val="14213D"/>
            </a:solidFill>
            <a:prstDash val="solid"/>
          </a:ln>
        </p:spPr>
      </p:sp>
      <p:sp>
        <p:nvSpPr>
          <p:cNvPr id="12" name="Text 10"/>
          <p:cNvSpPr txBox="1"/>
          <p:nvPr/>
        </p:nvSpPr>
        <p:spPr>
          <a:xfrm>
            <a:off x="731520" y="3749040"/>
            <a:ext cx="7772400" cy="685800"/>
          </a:xfrm>
          <a:prstGeom prst="rect">
            <a:avLst/>
          </a:prstGeom>
          <a:noFill/>
          <a:ln/>
        </p:spPr>
        <p:txBody>
          <a:bodyPr wrap="square" lIns="0" tIns="0" rIns="0" bIns="0" rtlCol="0" anchor="ctr"/>
          <a:lstStyle/>
          <a:p>
            <a:pPr indent="0" marL="0">
              <a:buNone/>
            </a:pPr>
            <a:r>
              <a:rPr lang="en-US" sz="1400" b="1" dirty="0">
                <a:solidFill>
                  <a:schemeClr val="accent1"/>
                </a:solidFill>
              </a:rPr>
              <a:t>So what  </a:t>
            </a:r>
            <a:pPr indent="0" marL="0">
              <a:buNone/>
            </a:pPr>
            <a:r>
              <a:rPr lang="en-US" sz="1400" dirty="0">
                <a:solidFill>
                  <a:schemeClr val="bg1"/>
                </a:solidFill>
              </a:rPr>
              <a:t>Deleting these rows would have biased the baseline. Every exclusion rule is documented in SQL.</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Each gap-filling method beat its simple alternative</a:t>
            </a:r>
            <a:endParaRPr lang="en-US" sz="2600" dirty="0"/>
          </a:p>
        </p:txBody>
      </p:sp>
      <p:graphicFrame>
        <p:nvGraphicFramePr>
          <p:cNvPr id="3" name="Chart 0" descr=""/>
          <p:cNvGraphicFramePr/>
          <p:nvPr/>
        </p:nvGraphicFramePr>
        <p:xfrm>
          <a:off x="457200" y="1188720"/>
          <a:ext cx="4754880" cy="3337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577840" y="1325880"/>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Partial-year branches</a:t>
            </a:r>
            <a:endParaRPr lang="en-US" sz="1400" dirty="0"/>
          </a:p>
        </p:txBody>
      </p:sp>
      <p:sp>
        <p:nvSpPr>
          <p:cNvPr id="5" name="Text 2"/>
          <p:cNvSpPr txBox="1"/>
          <p:nvPr/>
        </p:nvSpPr>
        <p:spPr>
          <a:xfrm>
            <a:off x="5577840" y="1627632"/>
            <a:ext cx="3108960" cy="960120"/>
          </a:xfrm>
          <a:prstGeom prst="rect">
            <a:avLst/>
          </a:prstGeom>
          <a:noFill/>
          <a:ln/>
        </p:spPr>
        <p:txBody>
          <a:bodyPr wrap="square" lIns="0" tIns="0" rIns="0" bIns="0" rtlCol="0" anchor="t"/>
          <a:lstStyle/>
          <a:p>
            <a:pPr indent="0" marL="0">
              <a:buNone/>
            </a:pPr>
            <a:r>
              <a:rPr lang="en-US" sz="1200" dirty="0">
                <a:solidFill>
                  <a:schemeClr val="tx2"/>
                </a:solidFill>
              </a:rPr>
              <a:t>Seasonal scaling vs. linear, backtested on 2,047 complete branches. Linear misses that a partial year without summer understates use.</a:t>
            </a:r>
            <a:endParaRPr lang="en-US" sz="1200" dirty="0"/>
          </a:p>
        </p:txBody>
      </p:sp>
      <p:sp>
        <p:nvSpPr>
          <p:cNvPr id="6" name="Text 3"/>
          <p:cNvSpPr txBox="1"/>
          <p:nvPr/>
        </p:nvSpPr>
        <p:spPr>
          <a:xfrm>
            <a:off x="5577840" y="2743200"/>
            <a:ext cx="3108960" cy="274320"/>
          </a:xfrm>
          <a:prstGeom prst="rect">
            <a:avLst/>
          </a:prstGeom>
          <a:noFill/>
          <a:ln/>
        </p:spPr>
        <p:txBody>
          <a:bodyPr wrap="square" lIns="0" tIns="0" rIns="0" bIns="0" rtlCol="0" anchor="ctr"/>
          <a:lstStyle/>
          <a:p>
            <a:pPr indent="0" marL="0">
              <a:buNone/>
            </a:pPr>
            <a:r>
              <a:rPr lang="en-US" sz="1400" b="1" dirty="0">
                <a:solidFill>
                  <a:schemeClr val="tx1"/>
                </a:solidFill>
              </a:rPr>
              <a:t>Unmetered branches</a:t>
            </a:r>
            <a:endParaRPr lang="en-US" sz="1400" dirty="0"/>
          </a:p>
        </p:txBody>
      </p:sp>
      <p:sp>
        <p:nvSpPr>
          <p:cNvPr id="7" name="Text 4"/>
          <p:cNvSpPr txBox="1"/>
          <p:nvPr/>
        </p:nvSpPr>
        <p:spPr>
          <a:xfrm>
            <a:off x="5577840" y="3044952"/>
            <a:ext cx="3108960" cy="685800"/>
          </a:xfrm>
          <a:prstGeom prst="rect">
            <a:avLst/>
          </a:prstGeom>
          <a:noFill/>
          <a:ln/>
        </p:spPr>
        <p:txBody>
          <a:bodyPr wrap="square" lIns="0" tIns="0" rIns="0" bIns="0" rtlCol="0" anchor="t"/>
          <a:lstStyle/>
          <a:p>
            <a:pPr indent="0" marL="0">
              <a:buNone/>
            </a:pPr>
            <a:r>
              <a:rPr lang="en-US" sz="1200" dirty="0">
                <a:solidFill>
                  <a:schemeClr val="tx2"/>
                </a:solidFill>
              </a:rPr>
              <a:t>Regression (R² = 0.72) vs. a format-median benchmark, 5-fold cross-validation.</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Portfolio electricity totals 314 GWh, 42% of it estimated</a:t>
            </a:r>
            <a:endParaRPr lang="en-US" sz="2600" dirty="0"/>
          </a:p>
        </p:txBody>
      </p:sp>
      <p:graphicFrame>
        <p:nvGraphicFramePr>
          <p:cNvPr id="3" name="Chart 0" descr=""/>
          <p:cNvGraphicFramePr/>
          <p:nvPr/>
        </p:nvGraphicFramePr>
        <p:xfrm>
          <a:off x="365760" y="1143000"/>
          <a:ext cx="420624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1463040" y="2103120"/>
            <a:ext cx="2011680" cy="5486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314</a:t>
            </a:r>
            <a:endParaRPr lang="en-US" sz="3000" dirty="0"/>
          </a:p>
        </p:txBody>
      </p:sp>
      <p:sp>
        <p:nvSpPr>
          <p:cNvPr id="5" name="Text 2"/>
          <p:cNvSpPr txBox="1"/>
          <p:nvPr/>
        </p:nvSpPr>
        <p:spPr>
          <a:xfrm>
            <a:off x="1463040" y="2606040"/>
            <a:ext cx="2011680" cy="274320"/>
          </a:xfrm>
          <a:prstGeom prst="rect">
            <a:avLst/>
          </a:prstGeom>
          <a:noFill/>
          <a:ln/>
        </p:spPr>
        <p:txBody>
          <a:bodyPr wrap="square" lIns="0" tIns="0" rIns="0" bIns="0" rtlCol="0" anchor="ctr"/>
          <a:lstStyle/>
          <a:p>
            <a:pPr algn="ctr" indent="0" marL="0">
              <a:buNone/>
            </a:pPr>
            <a:r>
              <a:rPr lang="en-US" sz="1100" dirty="0">
                <a:solidFill>
                  <a:schemeClr val="tx2"/>
                </a:solidFill>
              </a:rPr>
              <a:t>GWh total</a:t>
            </a:r>
            <a:endParaRPr lang="en-US" sz="1100" dirty="0"/>
          </a:p>
        </p:txBody>
      </p:sp>
      <p:sp>
        <p:nvSpPr>
          <p:cNvPr id="6" name="Scope 2 card"/>
          <p:cNvSpPr/>
          <p:nvPr/>
        </p:nvSpPr>
        <p:spPr>
          <a:xfrm>
            <a:off x="5029200" y="1325880"/>
            <a:ext cx="3657600" cy="1463040"/>
          </a:xfrm>
          <a:prstGeom prst="roundRect">
            <a:avLst>
              <a:gd name="adj" fmla="val 5000"/>
            </a:avLst>
          </a:prstGeom>
          <a:solidFill>
            <a:srgbClr val="EEF1F5"/>
          </a:solidFill>
          <a:ln w="12700">
            <a:solidFill>
              <a:srgbClr val="EEF1F5"/>
            </a:solidFill>
            <a:prstDash val="solid"/>
          </a:ln>
        </p:spPr>
      </p:sp>
      <p:sp>
        <p:nvSpPr>
          <p:cNvPr id="7" name="Text 4"/>
          <p:cNvSpPr txBox="1"/>
          <p:nvPr/>
        </p:nvSpPr>
        <p:spPr>
          <a:xfrm>
            <a:off x="5303520" y="1463040"/>
            <a:ext cx="3200400" cy="59436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~117,000 tCO₂</a:t>
            </a:r>
            <a:endParaRPr lang="en-US" sz="2800" dirty="0"/>
          </a:p>
        </p:txBody>
      </p:sp>
      <p:sp>
        <p:nvSpPr>
          <p:cNvPr id="8" name="Text 5"/>
          <p:cNvSpPr txBox="1"/>
          <p:nvPr/>
        </p:nvSpPr>
        <p:spPr>
          <a:xfrm>
            <a:off x="5303520" y="2103120"/>
            <a:ext cx="3200400" cy="594360"/>
          </a:xfrm>
          <a:prstGeom prst="rect">
            <a:avLst/>
          </a:prstGeom>
          <a:noFill/>
          <a:ln/>
        </p:spPr>
        <p:txBody>
          <a:bodyPr wrap="square" lIns="0" tIns="0" rIns="0" bIns="0" rtlCol="0" anchor="t"/>
          <a:lstStyle/>
          <a:p>
            <a:pPr indent="0" marL="0">
              <a:buNone/>
            </a:pPr>
            <a:r>
              <a:rPr lang="en-US" sz="1200" dirty="0">
                <a:solidFill>
                  <a:schemeClr val="tx2"/>
                </a:solidFill>
              </a:rPr>
              <a:t>Location-based Scope 2, using the eGRID2022 U.S. average factor (823 lb CO₂/MWh)</a:t>
            </a:r>
            <a:endParaRPr lang="en-US" sz="1200" dirty="0"/>
          </a:p>
        </p:txBody>
      </p:sp>
      <p:sp>
        <p:nvSpPr>
          <p:cNvPr id="9" name="Text 6"/>
          <p:cNvSpPr txBox="1"/>
          <p:nvPr/>
        </p:nvSpPr>
        <p:spPr>
          <a:xfrm>
            <a:off x="5029200" y="3017520"/>
            <a:ext cx="3657600" cy="1097280"/>
          </a:xfrm>
          <a:prstGeom prst="rect">
            <a:avLst/>
          </a:prstGeom>
          <a:noFill/>
          <a:ln/>
        </p:spPr>
        <p:txBody>
          <a:bodyPr wrap="square" lIns="0" tIns="0" rIns="0" bIns="0" rtlCol="0" anchor="t"/>
          <a:lstStyle/>
          <a:p>
            <a:pPr indent="0" marL="0">
              <a:spcAft>
                <a:spcPts val="600"/>
              </a:spcAft>
              <a:buNone/>
            </a:pPr>
            <a:r>
              <a:rPr lang="en-US" sz="1300" b="1" dirty="0">
                <a:solidFill>
                  <a:schemeClr val="tx1"/>
                </a:solidFill>
              </a:rPr>
              <a:t>Metered: </a:t>
            </a:r>
            <a:pPr indent="0" marL="0">
              <a:spcAft>
                <a:spcPts val="600"/>
              </a:spcAft>
              <a:buNone/>
            </a:pPr>
            <a:r>
              <a:rPr lang="en-US" sz="1300" dirty="0">
                <a:solidFill>
                  <a:schemeClr val="tx1"/>
                </a:solidFill>
              </a:rPr>
              <a:t>2,108 branches with full-year bills</a:t>
            </a:r>
            <a:endParaRPr lang="en-US" sz="1300" dirty="0"/>
          </a:p>
          <a:p>
            <a:pPr indent="0" marL="0">
              <a:spcAft>
                <a:spcPts val="600"/>
              </a:spcAft>
              <a:buNone/>
            </a:pPr>
            <a:r>
              <a:rPr lang="en-US" sz="1300" b="1" dirty="0">
                <a:solidFill>
                  <a:schemeClr val="tx1"/>
                </a:solidFill>
              </a:rPr>
              <a:t>Annualized: </a:t>
            </a:r>
            <a:pPr indent="0" marL="0">
              <a:spcAft>
                <a:spcPts val="600"/>
              </a:spcAft>
              <a:buNone/>
            </a:pPr>
            <a:r>
              <a:rPr lang="en-US" sz="1300" dirty="0">
                <a:solidFill>
                  <a:schemeClr val="tx1"/>
                </a:solidFill>
              </a:rPr>
              <a:t>810 branches, seasonal scaling</a:t>
            </a:r>
            <a:endParaRPr lang="en-US" sz="1300" dirty="0"/>
          </a:p>
          <a:p>
            <a:pPr indent="0" marL="0">
              <a:spcAft>
                <a:spcPts val="600"/>
              </a:spcAft>
              <a:buNone/>
            </a:pPr>
            <a:r>
              <a:rPr lang="en-US" sz="1300" b="1" dirty="0">
                <a:solidFill>
                  <a:schemeClr val="tx1"/>
                </a:solidFill>
              </a:rPr>
              <a:t>Modeled: </a:t>
            </a:r>
            <a:pPr indent="0" marL="0">
              <a:spcAft>
                <a:spcPts val="600"/>
              </a:spcAft>
              <a:buNone/>
            </a:pPr>
            <a:r>
              <a:rPr lang="en-US" sz="1300" dirty="0">
                <a:solidFill>
                  <a:schemeClr val="tx1"/>
                </a:solidFill>
              </a:rPr>
              <a:t>1,082 branches, regression</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Electric-resistance heat is the biggest intensity driver</a:t>
            </a:r>
            <a:endParaRPr lang="en-US" sz="2600" dirty="0"/>
          </a:p>
        </p:txBody>
      </p:sp>
      <p:graphicFrame>
        <p:nvGraphicFramePr>
          <p:cNvPr id="3" name="Chart 0" descr=""/>
          <p:cNvGraphicFramePr/>
          <p:nvPr/>
        </p:nvGraphicFramePr>
        <p:xfrm>
          <a:off x="36576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Driver callout"/>
          <p:cNvSpPr/>
          <p:nvPr/>
        </p:nvSpPr>
        <p:spPr>
          <a:xfrm>
            <a:off x="5806440" y="1325880"/>
            <a:ext cx="2880360" cy="1600200"/>
          </a:xfrm>
          <a:prstGeom prst="roundRect">
            <a:avLst>
              <a:gd name="adj" fmla="val 4571"/>
            </a:avLst>
          </a:prstGeom>
          <a:solidFill>
            <a:srgbClr val="14213D"/>
          </a:solidFill>
          <a:ln w="12700">
            <a:solidFill>
              <a:srgbClr val="14213D"/>
            </a:solidFill>
            <a:prstDash val="solid"/>
          </a:ln>
        </p:spPr>
      </p:sp>
      <p:sp>
        <p:nvSpPr>
          <p:cNvPr id="5" name="Text 2"/>
          <p:cNvSpPr txBox="1"/>
          <p:nvPr/>
        </p:nvSpPr>
        <p:spPr>
          <a:xfrm>
            <a:off x="6035040" y="1417320"/>
            <a:ext cx="2468880" cy="68580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+58%</a:t>
            </a:r>
            <a:endParaRPr lang="en-US" sz="3800" dirty="0"/>
          </a:p>
        </p:txBody>
      </p:sp>
      <p:sp>
        <p:nvSpPr>
          <p:cNvPr id="6" name="Text 3"/>
          <p:cNvSpPr txBox="1"/>
          <p:nvPr/>
        </p:nvSpPr>
        <p:spPr>
          <a:xfrm>
            <a:off x="6035040" y="2103120"/>
            <a:ext cx="2514600" cy="731520"/>
          </a:xfrm>
          <a:prstGeom prst="rect">
            <a:avLst/>
          </a:prstGeom>
          <a:noFill/>
          <a:ln/>
        </p:spPr>
        <p:txBody>
          <a:bodyPr wrap="square" lIns="0" tIns="0" rIns="0" bIns="0" rtlCol="0" anchor="t"/>
          <a:lstStyle/>
          <a:p>
            <a:pPr indent="0" marL="0">
              <a:buNone/>
            </a:pPr>
            <a:r>
              <a:rPr lang="en-US" sz="1200" dirty="0">
                <a:solidFill>
                  <a:schemeClr val="bg1"/>
                </a:solidFill>
              </a:rPr>
              <a:t>kWh/sq ft vs. gas-heat rooftop units, controlling for size, format, hours, and state</a:t>
            </a:r>
            <a:endParaRPr lang="en-US" sz="1200" dirty="0"/>
          </a:p>
        </p:txBody>
      </p:sp>
      <p:sp>
        <p:nvSpPr>
          <p:cNvPr id="7" name="Text 4"/>
          <p:cNvSpPr txBox="1"/>
          <p:nvPr/>
        </p:nvSpPr>
        <p:spPr>
          <a:xfrm>
            <a:off x="5806440" y="3154680"/>
            <a:ext cx="2880360" cy="1097280"/>
          </a:xfrm>
          <a:prstGeom prst="rect">
            <a:avLst/>
          </a:prstGeom>
          <a:noFill/>
          <a:ln/>
        </p:spPr>
        <p:txBody>
          <a:bodyPr wrap="square" lIns="0" tIns="0" rIns="0" bIns="0" rtlCol="0" anchor="t"/>
          <a:lstStyle/>
          <a:p>
            <a:pPr indent="0" marL="0">
              <a:buNone/>
            </a:pPr>
            <a:r>
              <a:rPr lang="en-US" sz="1200" dirty="0">
                <a:solidFill>
                  <a:schemeClr val="tx2"/>
                </a:solidFill>
              </a:rPr>
              <a:t>Read with care: electric-heated sites move heating from gas onto the meter. Heat pumps do this efficiently; resistance heat does not.</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Half the savings sit in just 150 branches</a:t>
            </a:r>
            <a:endParaRPr lang="en-US" sz="2600" dirty="0"/>
          </a:p>
        </p:txBody>
      </p:sp>
      <p:graphicFrame>
        <p:nvGraphicFramePr>
          <p:cNvPr id="3" name="Chart 0" descr=""/>
          <p:cNvGraphicFramePr/>
          <p:nvPr/>
        </p:nvGraphicFramePr>
        <p:xfrm>
          <a:off x="36576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06440" y="1325880"/>
            <a:ext cx="2880360" cy="320040"/>
          </a:xfrm>
          <a:prstGeom prst="rect">
            <a:avLst/>
          </a:prstGeom>
          <a:noFill/>
          <a:ln/>
        </p:spPr>
        <p:txBody>
          <a:bodyPr wrap="square" lIns="0" tIns="0" rIns="0" bIns="0" rtlCol="0" anchor="ctr"/>
          <a:lstStyle/>
          <a:p>
            <a:pPr indent="0" marL="0">
              <a:buNone/>
            </a:pPr>
            <a:r>
              <a:rPr lang="en-US" sz="1500" b="1" dirty="0">
                <a:solidFill>
                  <a:schemeClr val="accent2"/>
                </a:solidFill>
              </a:rPr>
              <a:t>Who the top 150 are</a:t>
            </a:r>
            <a:endParaRPr lang="en-US" sz="1500" dirty="0"/>
          </a:p>
        </p:txBody>
      </p:sp>
      <p:sp>
        <p:nvSpPr>
          <p:cNvPr id="5" name="Text 2"/>
          <p:cNvSpPr txBox="1"/>
          <p:nvPr/>
        </p:nvSpPr>
        <p:spPr>
          <a:xfrm>
            <a:off x="5806440" y="1783080"/>
            <a:ext cx="288036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12.8 GWh</a:t>
            </a:r>
            <a:endParaRPr lang="en-US" sz="2200" dirty="0"/>
          </a:p>
        </p:txBody>
      </p:sp>
      <p:sp>
        <p:nvSpPr>
          <p:cNvPr id="6" name="Text 3"/>
          <p:cNvSpPr txBox="1"/>
          <p:nvPr/>
        </p:nvSpPr>
        <p:spPr>
          <a:xfrm>
            <a:off x="5806440" y="2194560"/>
            <a:ext cx="2880360" cy="320040"/>
          </a:xfrm>
          <a:prstGeom prst="rect">
            <a:avLst/>
          </a:prstGeom>
          <a:noFill/>
          <a:ln/>
        </p:spPr>
        <p:txBody>
          <a:bodyPr wrap="square" lIns="0" tIns="0" rIns="0" bIns="0" rtlCol="0" anchor="ctr"/>
          <a:lstStyle/>
          <a:p>
            <a:pPr indent="0" marL="0">
              <a:buNone/>
            </a:pPr>
            <a:r>
              <a:rPr lang="en-US" sz="1200" dirty="0">
                <a:solidFill>
                  <a:schemeClr val="tx2"/>
                </a:solidFill>
              </a:rPr>
              <a:t>of savings at 4% of branches</a:t>
            </a:r>
            <a:endParaRPr lang="en-US" sz="1200" dirty="0"/>
          </a:p>
        </p:txBody>
      </p:sp>
      <p:sp>
        <p:nvSpPr>
          <p:cNvPr id="7" name="Text 4"/>
          <p:cNvSpPr txBox="1"/>
          <p:nvPr/>
        </p:nvSpPr>
        <p:spPr>
          <a:xfrm>
            <a:off x="5806440" y="2651760"/>
            <a:ext cx="288036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83%</a:t>
            </a:r>
            <a:endParaRPr lang="en-US" sz="2200" dirty="0"/>
          </a:p>
        </p:txBody>
      </p:sp>
      <p:sp>
        <p:nvSpPr>
          <p:cNvPr id="8" name="Text 5"/>
          <p:cNvSpPr txBox="1"/>
          <p:nvPr/>
        </p:nvSpPr>
        <p:spPr>
          <a:xfrm>
            <a:off x="5806440" y="3063240"/>
            <a:ext cx="2880360" cy="320040"/>
          </a:xfrm>
          <a:prstGeom prst="rect">
            <a:avLst/>
          </a:prstGeom>
          <a:noFill/>
          <a:ln/>
        </p:spPr>
        <p:txBody>
          <a:bodyPr wrap="square" lIns="0" tIns="0" rIns="0" bIns="0" rtlCol="0" anchor="ctr"/>
          <a:lstStyle/>
          <a:p>
            <a:pPr indent="0" marL="0">
              <a:buNone/>
            </a:pPr>
            <a:r>
              <a:rPr lang="en-US" sz="1200" dirty="0">
                <a:solidFill>
                  <a:schemeClr val="tx2"/>
                </a:solidFill>
              </a:rPr>
              <a:t>electrically heated (heat pump or resistance)</a:t>
            </a:r>
            <a:endParaRPr lang="en-US" sz="1200" dirty="0"/>
          </a:p>
        </p:txBody>
      </p:sp>
      <p:sp>
        <p:nvSpPr>
          <p:cNvPr id="9" name="Text 6"/>
          <p:cNvSpPr txBox="1"/>
          <p:nvPr/>
        </p:nvSpPr>
        <p:spPr>
          <a:xfrm>
            <a:off x="5806440" y="3520440"/>
            <a:ext cx="2880360" cy="4114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79%</a:t>
            </a:r>
            <a:endParaRPr lang="en-US" sz="2200" dirty="0"/>
          </a:p>
        </p:txBody>
      </p:sp>
      <p:sp>
        <p:nvSpPr>
          <p:cNvPr id="10" name="Text 7"/>
          <p:cNvSpPr txBox="1"/>
          <p:nvPr/>
        </p:nvSpPr>
        <p:spPr>
          <a:xfrm>
            <a:off x="5806440" y="3931920"/>
            <a:ext cx="2880360" cy="320040"/>
          </a:xfrm>
          <a:prstGeom prst="rect">
            <a:avLst/>
          </a:prstGeom>
          <a:noFill/>
          <a:ln/>
        </p:spPr>
        <p:txBody>
          <a:bodyPr wrap="square" lIns="0" tIns="0" rIns="0" bIns="0" rtlCol="0" anchor="ctr"/>
          <a:lstStyle/>
          <a:p>
            <a:pPr indent="0" marL="0">
              <a:buNone/>
            </a:pPr>
            <a:r>
              <a:rPr lang="en-US" sz="1200" dirty="0">
                <a:solidFill>
                  <a:schemeClr val="tx2"/>
                </a:solidFill>
              </a:rPr>
              <a:t>full-service format</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000" b="1" dirty="0">
                <a:solidFill>
                  <a:schemeClr val="bg1"/>
                </a:solidFill>
                <a:latin typeface="Cambria" pitchFamily="34" charset="0"/>
                <a:ea typeface="Cambria" pitchFamily="34" charset="-122"/>
                <a:cs typeface="Cambria" pitchFamily="34" charset="-120"/>
              </a:rPr>
              <a:t>Recommended next steps</a:t>
            </a:r>
            <a:endParaRPr lang="en-US" sz="3000" dirty="0"/>
          </a:p>
        </p:txBody>
      </p:sp>
      <p:sp>
        <p:nvSpPr>
          <p:cNvPr id="3" name="Shape 1"/>
          <p:cNvSpPr/>
          <p:nvPr/>
        </p:nvSpPr>
        <p:spPr>
          <a:xfrm>
            <a:off x="548640" y="1325880"/>
            <a:ext cx="502920" cy="502920"/>
          </a:xfrm>
          <a:prstGeom prst="ellipse">
            <a:avLst/>
          </a:prstGeom>
          <a:solidFill>
            <a:srgbClr val="F4A300"/>
          </a:solidFill>
          <a:ln w="12700">
            <a:solidFill>
              <a:srgbClr val="F4A300"/>
            </a:solidFill>
            <a:prstDash val="solid"/>
          </a:ln>
        </p:spPr>
      </p:sp>
      <p:sp>
        <p:nvSpPr>
          <p:cNvPr id="4" name="Text 2"/>
          <p:cNvSpPr txBox="1"/>
          <p:nvPr/>
        </p:nvSpPr>
        <p:spPr>
          <a:xfrm>
            <a:off x="548640" y="132588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3"/>
          <p:cNvSpPr txBox="1"/>
          <p:nvPr/>
        </p:nvSpPr>
        <p:spPr>
          <a:xfrm>
            <a:off x="1280160" y="1307592"/>
            <a:ext cx="7315200" cy="320040"/>
          </a:xfrm>
          <a:prstGeom prst="rect">
            <a:avLst/>
          </a:prstGeom>
          <a:noFill/>
          <a:ln/>
        </p:spPr>
        <p:txBody>
          <a:bodyPr wrap="square" lIns="0" tIns="0" rIns="0" bIns="0" rtlCol="0" anchor="ctr"/>
          <a:lstStyle/>
          <a:p>
            <a:pPr indent="0" marL="0">
              <a:buNone/>
            </a:pPr>
            <a:r>
              <a:rPr lang="en-US" sz="1700" b="1" dirty="0">
                <a:solidFill>
                  <a:schemeClr val="bg1"/>
                </a:solidFill>
              </a:rPr>
              <a:t>Audit the top 150 branches</a:t>
            </a:r>
            <a:endParaRPr lang="en-US" sz="1700" dirty="0"/>
          </a:p>
        </p:txBody>
      </p:sp>
      <p:sp>
        <p:nvSpPr>
          <p:cNvPr id="6" name="Text 4"/>
          <p:cNvSpPr txBox="1"/>
          <p:nvPr/>
        </p:nvSpPr>
        <p:spPr>
          <a:xfrm>
            <a:off x="1280160" y="1618488"/>
            <a:ext cx="7315200" cy="274320"/>
          </a:xfrm>
          <a:prstGeom prst="rect">
            <a:avLst/>
          </a:prstGeom>
          <a:noFill/>
          <a:ln/>
        </p:spPr>
        <p:txBody>
          <a:bodyPr wrap="square" lIns="0" tIns="0" rIns="0" bIns="0" rtlCol="0" anchor="ctr"/>
          <a:lstStyle/>
          <a:p>
            <a:pPr indent="0" marL="0">
              <a:buNone/>
            </a:pPr>
            <a:r>
              <a:rPr lang="en-US" sz="1300" dirty="0">
                <a:solidFill>
                  <a:schemeClr val="accent6"/>
                </a:solidFill>
              </a:rPr>
              <a:t>12.8 GWh of savings concentrated in 4% of the portfolio</a:t>
            </a:r>
            <a:endParaRPr lang="en-US" sz="1300" dirty="0"/>
          </a:p>
        </p:txBody>
      </p:sp>
      <p:sp>
        <p:nvSpPr>
          <p:cNvPr id="7" name="Shape 5"/>
          <p:cNvSpPr/>
          <p:nvPr/>
        </p:nvSpPr>
        <p:spPr>
          <a:xfrm>
            <a:off x="548640" y="2148840"/>
            <a:ext cx="502920" cy="502920"/>
          </a:xfrm>
          <a:prstGeom prst="ellipse">
            <a:avLst/>
          </a:prstGeom>
          <a:solidFill>
            <a:srgbClr val="F4A300"/>
          </a:solidFill>
          <a:ln w="12700">
            <a:solidFill>
              <a:srgbClr val="F4A300"/>
            </a:solidFill>
            <a:prstDash val="solid"/>
          </a:ln>
        </p:spPr>
      </p:sp>
      <p:sp>
        <p:nvSpPr>
          <p:cNvPr id="8" name="Text 6"/>
          <p:cNvSpPr txBox="1"/>
          <p:nvPr/>
        </p:nvSpPr>
        <p:spPr>
          <a:xfrm>
            <a:off x="548640" y="214884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Text 7"/>
          <p:cNvSpPr txBox="1"/>
          <p:nvPr/>
        </p:nvSpPr>
        <p:spPr>
          <a:xfrm>
            <a:off x="1280160" y="2130552"/>
            <a:ext cx="7315200" cy="320040"/>
          </a:xfrm>
          <a:prstGeom prst="rect">
            <a:avLst/>
          </a:prstGeom>
          <a:noFill/>
          <a:ln/>
        </p:spPr>
        <p:txBody>
          <a:bodyPr wrap="square" lIns="0" tIns="0" rIns="0" bIns="0" rtlCol="0" anchor="ctr"/>
          <a:lstStyle/>
          <a:p>
            <a:pPr indent="0" marL="0">
              <a:buNone/>
            </a:pPr>
            <a:r>
              <a:rPr lang="en-US" sz="1700" b="1" dirty="0">
                <a:solidFill>
                  <a:schemeClr val="bg1"/>
                </a:solidFill>
              </a:rPr>
              <a:t>Replace electric-resistance heat</a:t>
            </a:r>
            <a:endParaRPr lang="en-US" sz="1700" dirty="0"/>
          </a:p>
        </p:txBody>
      </p:sp>
      <p:sp>
        <p:nvSpPr>
          <p:cNvPr id="10" name="Text 8"/>
          <p:cNvSpPr txBox="1"/>
          <p:nvPr/>
        </p:nvSpPr>
        <p:spPr>
          <a:xfrm>
            <a:off x="1280160" y="2441448"/>
            <a:ext cx="7315200" cy="274320"/>
          </a:xfrm>
          <a:prstGeom prst="rect">
            <a:avLst/>
          </a:prstGeom>
          <a:noFill/>
          <a:ln/>
        </p:spPr>
        <p:txBody>
          <a:bodyPr wrap="square" lIns="0" tIns="0" rIns="0" bIns="0" rtlCol="0" anchor="ctr"/>
          <a:lstStyle/>
          <a:p>
            <a:pPr indent="0" marL="0">
              <a:buNone/>
            </a:pPr>
            <a:r>
              <a:rPr lang="en-US" sz="1300" dirty="0">
                <a:solidFill>
                  <a:schemeClr val="accent6"/>
                </a:solidFill>
              </a:rPr>
              <a:t>Swap to heat pumps at end of equipment life</a:t>
            </a:r>
            <a:endParaRPr lang="en-US" sz="1300" dirty="0"/>
          </a:p>
        </p:txBody>
      </p:sp>
      <p:sp>
        <p:nvSpPr>
          <p:cNvPr id="11" name="Shape 9"/>
          <p:cNvSpPr/>
          <p:nvPr/>
        </p:nvSpPr>
        <p:spPr>
          <a:xfrm>
            <a:off x="548640" y="2971800"/>
            <a:ext cx="502920" cy="502920"/>
          </a:xfrm>
          <a:prstGeom prst="ellipse">
            <a:avLst/>
          </a:prstGeom>
          <a:solidFill>
            <a:srgbClr val="F4A300"/>
          </a:solidFill>
          <a:ln w="12700">
            <a:solidFill>
              <a:srgbClr val="F4A300"/>
            </a:solidFill>
            <a:prstDash val="solid"/>
          </a:ln>
        </p:spPr>
      </p:sp>
      <p:sp>
        <p:nvSpPr>
          <p:cNvPr id="12" name="Text 10"/>
          <p:cNvSpPr txBox="1"/>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3" name="Text 11"/>
          <p:cNvSpPr txBox="1"/>
          <p:nvPr/>
        </p:nvSpPr>
        <p:spPr>
          <a:xfrm>
            <a:off x="1280160" y="2953512"/>
            <a:ext cx="7315200" cy="320040"/>
          </a:xfrm>
          <a:prstGeom prst="rect">
            <a:avLst/>
          </a:prstGeom>
          <a:noFill/>
          <a:ln/>
        </p:spPr>
        <p:txBody>
          <a:bodyPr wrap="square" lIns="0" tIns="0" rIns="0" bIns="0" rtlCol="0" anchor="ctr"/>
          <a:lstStyle/>
          <a:p>
            <a:pPr indent="0" marL="0">
              <a:buNone/>
            </a:pPr>
            <a:r>
              <a:rPr lang="en-US" sz="1700" b="1" dirty="0">
                <a:solidFill>
                  <a:schemeClr val="bg1"/>
                </a:solidFill>
              </a:rPr>
              <a:t>Close the data gap</a:t>
            </a:r>
            <a:endParaRPr lang="en-US" sz="1700" dirty="0"/>
          </a:p>
        </p:txBody>
      </p:sp>
      <p:sp>
        <p:nvSpPr>
          <p:cNvPr id="14" name="Text 12"/>
          <p:cNvSpPr txBox="1"/>
          <p:nvPr/>
        </p:nvSpPr>
        <p:spPr>
          <a:xfrm>
            <a:off x="1280160" y="3264408"/>
            <a:ext cx="7315200" cy="274320"/>
          </a:xfrm>
          <a:prstGeom prst="rect">
            <a:avLst/>
          </a:prstGeom>
          <a:noFill/>
          <a:ln/>
        </p:spPr>
        <p:txBody>
          <a:bodyPr wrap="square" lIns="0" tIns="0" rIns="0" bIns="0" rtlCol="0" anchor="ctr"/>
          <a:lstStyle/>
          <a:p>
            <a:pPr indent="0" marL="0">
              <a:buNone/>
            </a:pPr>
            <a:r>
              <a:rPr lang="en-US" sz="1300" dirty="0">
                <a:solidFill>
                  <a:schemeClr val="accent6"/>
                </a:solidFill>
              </a:rPr>
              <a:t>Request landlord data for the 1,082 unmetered branches</a:t>
            </a:r>
            <a:endParaRPr lang="en-US" sz="1300" dirty="0"/>
          </a:p>
        </p:txBody>
      </p:sp>
      <p:sp>
        <p:nvSpPr>
          <p:cNvPr id="15" name="Shape 13"/>
          <p:cNvSpPr/>
          <p:nvPr/>
        </p:nvSpPr>
        <p:spPr>
          <a:xfrm>
            <a:off x="548640" y="3794760"/>
            <a:ext cx="502920" cy="502920"/>
          </a:xfrm>
          <a:prstGeom prst="ellipse">
            <a:avLst/>
          </a:prstGeom>
          <a:solidFill>
            <a:srgbClr val="F4A300"/>
          </a:solidFill>
          <a:ln w="12700">
            <a:solidFill>
              <a:srgbClr val="F4A300"/>
            </a:solidFill>
            <a:prstDash val="solid"/>
          </a:ln>
        </p:spPr>
      </p:sp>
      <p:sp>
        <p:nvSpPr>
          <p:cNvPr id="16" name="Text 14"/>
          <p:cNvSpPr txBox="1"/>
          <p:nvPr/>
        </p:nvSpPr>
        <p:spPr>
          <a:xfrm>
            <a:off x="548640" y="379476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7" name="Text 15"/>
          <p:cNvSpPr txBox="1"/>
          <p:nvPr/>
        </p:nvSpPr>
        <p:spPr>
          <a:xfrm>
            <a:off x="1280160" y="3776472"/>
            <a:ext cx="7315200" cy="320040"/>
          </a:xfrm>
          <a:prstGeom prst="rect">
            <a:avLst/>
          </a:prstGeom>
          <a:noFill/>
          <a:ln/>
        </p:spPr>
        <p:txBody>
          <a:bodyPr wrap="square" lIns="0" tIns="0" rIns="0" bIns="0" rtlCol="0" anchor="ctr"/>
          <a:lstStyle/>
          <a:p>
            <a:pPr indent="0" marL="0">
              <a:buNone/>
            </a:pPr>
            <a:r>
              <a:rPr lang="en-US" sz="1700" b="1" dirty="0">
                <a:solidFill>
                  <a:schemeClr val="bg1"/>
                </a:solidFill>
              </a:rPr>
              <a:t>Refine Scope 2 before reporting</a:t>
            </a:r>
            <a:endParaRPr lang="en-US" sz="1700" dirty="0"/>
          </a:p>
        </p:txBody>
      </p:sp>
      <p:sp>
        <p:nvSpPr>
          <p:cNvPr id="18" name="Text 16"/>
          <p:cNvSpPr txBox="1"/>
          <p:nvPr/>
        </p:nvSpPr>
        <p:spPr>
          <a:xfrm>
            <a:off x="1280160" y="4087368"/>
            <a:ext cx="7315200" cy="274320"/>
          </a:xfrm>
          <a:prstGeom prst="rect">
            <a:avLst/>
          </a:prstGeom>
          <a:noFill/>
          <a:ln/>
        </p:spPr>
        <p:txBody>
          <a:bodyPr wrap="square" lIns="0" tIns="0" rIns="0" bIns="0" rtlCol="0" anchor="ctr"/>
          <a:lstStyle/>
          <a:p>
            <a:pPr indent="0" marL="0">
              <a:buNone/>
            </a:pPr>
            <a:r>
              <a:rPr lang="en-US" sz="1300" dirty="0">
                <a:solidFill>
                  <a:schemeClr val="accent6"/>
                </a:solidFill>
              </a:rPr>
              <a:t>Move to eGRID subregion factors</a:t>
            </a:r>
            <a:endParaRPr lang="en-US" sz="1300" dirty="0"/>
          </a:p>
        </p:txBody>
      </p:sp>
      <p:sp>
        <p:nvSpPr>
          <p:cNvPr id="20" name="Text 0"/>
          <p:cNvSpPr/>
          <p:nvPr>
            <p:ph idx="100" type="title" hasCustomPrompt="1"/>
          </p:nvPr>
        </p:nvSpPr>
        <p:spPr>
          <a:xfrm>
            <a:off x="548640" y="1417320"/>
            <a:ext cx="5120640" cy="1463040"/>
          </a:xfrm>
          <a:prstGeom prst="rect">
            <a:avLst/>
          </a:prstGeom>
          <a:noFill/>
          <a:ln/>
        </p:spPr>
        <p:txBody>
          <a:bodyPr wrap="square" lIns="0" tIns="0" rIns="0" bIns="0" rtlCol="0" anchor="t"/>
          <a:lstStyle/>
          <a:p>
            <a:pPr algn="l" indent="0" marL="0">
              <a:buNone/>
            </a:pPr>
            <a:endParaRPr lang="en-US" sz="3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777240"/>
          </a:xfrm>
          <a:prstGeom prst="rect">
            <a:avLst/>
          </a:prstGeom>
          <a:noFill/>
          <a:ln/>
        </p:spPr>
        <p:txBody>
          <a:bodyPr wrap="square" lIns="0" tIns="0" rIns="0" bIns="0" rtlCol="0" anchor="t"/>
          <a:lstStyle/>
          <a:p>
            <a:pPr algn="l" indent="0" marL="0">
              <a:buNone/>
            </a:pPr>
            <a:r>
              <a:rPr lang="en-US" sz="2600" b="1" dirty="0">
                <a:solidFill>
                  <a:schemeClr val="tx1"/>
                </a:solidFill>
              </a:rPr>
              <a:t>Tools used, and what to keep in mind</a:t>
            </a:r>
            <a:endParaRPr lang="en-US" sz="2600" dirty="0"/>
          </a:p>
        </p:txBody>
      </p:sp>
      <p:sp>
        <p:nvSpPr>
          <p:cNvPr id="3" name="Tool 1"/>
          <p:cNvSpPr/>
          <p:nvPr/>
        </p:nvSpPr>
        <p:spPr>
          <a:xfrm>
            <a:off x="457200" y="1280160"/>
            <a:ext cx="4023360" cy="914400"/>
          </a:xfrm>
          <a:prstGeom prst="roundRect">
            <a:avLst>
              <a:gd name="adj" fmla="val 8000"/>
            </a:avLst>
          </a:prstGeom>
          <a:solidFill>
            <a:srgbClr val="EEF1F5"/>
          </a:solidFill>
          <a:ln w="12700">
            <a:solidFill>
              <a:srgbClr val="EEF1F5"/>
            </a:solidFill>
            <a:prstDash val="solid"/>
          </a:ln>
        </p:spPr>
      </p:sp>
      <p:sp>
        <p:nvSpPr>
          <p:cNvPr id="4" name="Text 2"/>
          <p:cNvSpPr txBox="1"/>
          <p:nvPr/>
        </p:nvSpPr>
        <p:spPr>
          <a:xfrm>
            <a:off x="685800" y="1389888"/>
            <a:ext cx="3657600" cy="320040"/>
          </a:xfrm>
          <a:prstGeom prst="rect">
            <a:avLst/>
          </a:prstGeom>
          <a:noFill/>
          <a:ln/>
        </p:spPr>
        <p:txBody>
          <a:bodyPr wrap="square" lIns="0" tIns="0" rIns="0" bIns="0" rtlCol="0" anchor="ctr"/>
          <a:lstStyle/>
          <a:p>
            <a:pPr indent="0" marL="0">
              <a:buNone/>
            </a:pPr>
            <a:r>
              <a:rPr lang="en-US" sz="1500" b="1" dirty="0">
                <a:solidFill>
                  <a:schemeClr val="tx1"/>
                </a:solidFill>
              </a:rPr>
              <a:t>SQL (DuckDB)</a:t>
            </a:r>
            <a:endParaRPr lang="en-US" sz="1500" dirty="0"/>
          </a:p>
        </p:txBody>
      </p:sp>
      <p:sp>
        <p:nvSpPr>
          <p:cNvPr id="5" name="Text 3"/>
          <p:cNvSpPr txBox="1"/>
          <p:nvPr/>
        </p:nvSpPr>
        <p:spPr>
          <a:xfrm>
            <a:off x="685800" y="1709928"/>
            <a:ext cx="3657600" cy="411480"/>
          </a:xfrm>
          <a:prstGeom prst="rect">
            <a:avLst/>
          </a:prstGeom>
          <a:noFill/>
          <a:ln/>
        </p:spPr>
        <p:txBody>
          <a:bodyPr wrap="square" lIns="0" tIns="0" rIns="0" bIns="0" rtlCol="0" anchor="t"/>
          <a:lstStyle/>
          <a:p>
            <a:pPr indent="0" marL="0">
              <a:buNone/>
            </a:pPr>
            <a:r>
              <a:rPr lang="en-US" sz="1200" dirty="0">
                <a:solidFill>
                  <a:schemeClr val="tx2"/>
                </a:solidFill>
              </a:rPr>
              <a:t>Profiling, QC, window-function annualization, backtesting, savings ranking</a:t>
            </a:r>
            <a:endParaRPr lang="en-US" sz="1200" dirty="0"/>
          </a:p>
        </p:txBody>
      </p:sp>
      <p:sp>
        <p:nvSpPr>
          <p:cNvPr id="6" name="Tool 2"/>
          <p:cNvSpPr/>
          <p:nvPr/>
        </p:nvSpPr>
        <p:spPr>
          <a:xfrm>
            <a:off x="457200" y="2331720"/>
            <a:ext cx="4023360" cy="914400"/>
          </a:xfrm>
          <a:prstGeom prst="roundRect">
            <a:avLst>
              <a:gd name="adj" fmla="val 8000"/>
            </a:avLst>
          </a:prstGeom>
          <a:solidFill>
            <a:srgbClr val="EEF1F5"/>
          </a:solidFill>
          <a:ln w="12700">
            <a:solidFill>
              <a:srgbClr val="EEF1F5"/>
            </a:solidFill>
            <a:prstDash val="solid"/>
          </a:ln>
        </p:spPr>
      </p:sp>
      <p:sp>
        <p:nvSpPr>
          <p:cNvPr id="7" name="Text 5"/>
          <p:cNvSpPr txBox="1"/>
          <p:nvPr/>
        </p:nvSpPr>
        <p:spPr>
          <a:xfrm>
            <a:off x="685800" y="2441448"/>
            <a:ext cx="3657600" cy="320040"/>
          </a:xfrm>
          <a:prstGeom prst="rect">
            <a:avLst/>
          </a:prstGeom>
          <a:noFill/>
          <a:ln/>
        </p:spPr>
        <p:txBody>
          <a:bodyPr wrap="square" lIns="0" tIns="0" rIns="0" bIns="0" rtlCol="0" anchor="ctr"/>
          <a:lstStyle/>
          <a:p>
            <a:pPr indent="0" marL="0">
              <a:buNone/>
            </a:pPr>
            <a:r>
              <a:rPr lang="en-US" sz="1500" b="1" dirty="0">
                <a:solidFill>
                  <a:schemeClr val="tx1"/>
                </a:solidFill>
              </a:rPr>
              <a:t>Python</a:t>
            </a:r>
            <a:endParaRPr lang="en-US" sz="1500" dirty="0"/>
          </a:p>
        </p:txBody>
      </p:sp>
      <p:sp>
        <p:nvSpPr>
          <p:cNvPr id="8" name="Text 6"/>
          <p:cNvSpPr txBox="1"/>
          <p:nvPr/>
        </p:nvSpPr>
        <p:spPr>
          <a:xfrm>
            <a:off x="685800" y="2761488"/>
            <a:ext cx="3657600" cy="411480"/>
          </a:xfrm>
          <a:prstGeom prst="rect">
            <a:avLst/>
          </a:prstGeom>
          <a:noFill/>
          <a:ln/>
        </p:spPr>
        <p:txBody>
          <a:bodyPr wrap="square" lIns="0" tIns="0" rIns="0" bIns="0" rtlCol="0" anchor="t"/>
          <a:lstStyle/>
          <a:p>
            <a:pPr indent="0" marL="0">
              <a:buNone/>
            </a:pPr>
            <a:r>
              <a:rPr lang="en-US" sz="1200" dirty="0">
                <a:solidFill>
                  <a:schemeClr val="tx2"/>
                </a:solidFill>
              </a:rPr>
              <a:t>statsmodels regression, scikit-learn cross-validation, pandas</a:t>
            </a:r>
            <a:endParaRPr lang="en-US" sz="1200" dirty="0"/>
          </a:p>
        </p:txBody>
      </p:sp>
      <p:sp>
        <p:nvSpPr>
          <p:cNvPr id="9" name="Tool 3"/>
          <p:cNvSpPr/>
          <p:nvPr/>
        </p:nvSpPr>
        <p:spPr>
          <a:xfrm>
            <a:off x="457200" y="3383280"/>
            <a:ext cx="4023360" cy="914400"/>
          </a:xfrm>
          <a:prstGeom prst="roundRect">
            <a:avLst>
              <a:gd name="adj" fmla="val 8000"/>
            </a:avLst>
          </a:prstGeom>
          <a:solidFill>
            <a:srgbClr val="EEF1F5"/>
          </a:solidFill>
          <a:ln w="12700">
            <a:solidFill>
              <a:srgbClr val="EEF1F5"/>
            </a:solidFill>
            <a:prstDash val="solid"/>
          </a:ln>
        </p:spPr>
      </p:sp>
      <p:sp>
        <p:nvSpPr>
          <p:cNvPr id="10" name="Text 8"/>
          <p:cNvSpPr txBox="1"/>
          <p:nvPr/>
        </p:nvSpPr>
        <p:spPr>
          <a:xfrm>
            <a:off x="685800" y="3493008"/>
            <a:ext cx="3657600" cy="320040"/>
          </a:xfrm>
          <a:prstGeom prst="rect">
            <a:avLst/>
          </a:prstGeom>
          <a:noFill/>
          <a:ln/>
        </p:spPr>
        <p:txBody>
          <a:bodyPr wrap="square" lIns="0" tIns="0" rIns="0" bIns="0" rtlCol="0" anchor="ctr"/>
          <a:lstStyle/>
          <a:p>
            <a:pPr indent="0" marL="0">
              <a:buNone/>
            </a:pPr>
            <a:r>
              <a:rPr lang="en-US" sz="1500" b="1" dirty="0">
                <a:solidFill>
                  <a:schemeClr val="tx1"/>
                </a:solidFill>
              </a:rPr>
              <a:t>GitHub</a:t>
            </a:r>
            <a:endParaRPr lang="en-US" sz="1500" dirty="0"/>
          </a:p>
        </p:txBody>
      </p:sp>
      <p:sp>
        <p:nvSpPr>
          <p:cNvPr id="11" name="Text 9"/>
          <p:cNvSpPr txBox="1"/>
          <p:nvPr/>
        </p:nvSpPr>
        <p:spPr>
          <a:xfrm>
            <a:off x="685800" y="3813048"/>
            <a:ext cx="3657600" cy="411480"/>
          </a:xfrm>
          <a:prstGeom prst="rect">
            <a:avLst/>
          </a:prstGeom>
          <a:noFill/>
          <a:ln/>
        </p:spPr>
        <p:txBody>
          <a:bodyPr wrap="square" lIns="0" tIns="0" rIns="0" bIns="0" rtlCol="0" anchor="t"/>
          <a:lstStyle/>
          <a:p>
            <a:pPr indent="0" marL="0">
              <a:buNone/>
            </a:pPr>
            <a:r>
              <a:rPr lang="en-US" sz="1200" dirty="0">
                <a:solidFill>
                  <a:schemeClr val="tx2"/>
                </a:solidFill>
              </a:rPr>
              <a:t>Reproducible pipeline: one command regenerates every number</a:t>
            </a:r>
            <a:endParaRPr lang="en-US" sz="1200" dirty="0"/>
          </a:p>
        </p:txBody>
      </p:sp>
      <p:sp>
        <p:nvSpPr>
          <p:cNvPr id="12" name="Text 10"/>
          <p:cNvSpPr txBox="1"/>
          <p:nvPr/>
        </p:nvSpPr>
        <p:spPr>
          <a:xfrm>
            <a:off x="4937760" y="1280160"/>
            <a:ext cx="3749040" cy="320040"/>
          </a:xfrm>
          <a:prstGeom prst="rect">
            <a:avLst/>
          </a:prstGeom>
          <a:noFill/>
          <a:ln/>
        </p:spPr>
        <p:txBody>
          <a:bodyPr wrap="square" lIns="0" tIns="0" rIns="0" bIns="0" rtlCol="0" anchor="ctr"/>
          <a:lstStyle/>
          <a:p>
            <a:pPr indent="0" marL="0">
              <a:buNone/>
            </a:pPr>
            <a:r>
              <a:rPr lang="en-US" sz="1500" b="1" dirty="0">
                <a:solidFill>
                  <a:schemeClr val="accent4"/>
                </a:solidFill>
              </a:rPr>
              <a:t>Limitations</a:t>
            </a:r>
            <a:endParaRPr lang="en-US" sz="1500" dirty="0"/>
          </a:p>
        </p:txBody>
      </p:sp>
      <p:sp>
        <p:nvSpPr>
          <p:cNvPr id="13" name="Text 11"/>
          <p:cNvSpPr txBox="1"/>
          <p:nvPr/>
        </p:nvSpPr>
        <p:spPr>
          <a:xfrm>
            <a:off x="4937760" y="1691640"/>
            <a:ext cx="3749040" cy="25603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chemeClr val="tx1"/>
                </a:solidFill>
              </a:rPr>
              <a:t>Synthetic data: findings demonstrate the method, not real bank behavior</a:t>
            </a:r>
            <a:endParaRPr lang="en-US" sz="1300" dirty="0"/>
          </a:p>
          <a:p>
            <a:pPr marL="342900" indent="-342900">
              <a:spcAft>
                <a:spcPts val="1000"/>
              </a:spcAft>
              <a:buSzPct val="100000"/>
              <a:buChar char="•"/>
            </a:pPr>
            <a:r>
              <a:rPr lang="en-US" sz="1300" dirty="0">
                <a:solidFill>
                  <a:schemeClr val="tx1"/>
                </a:solidFill>
              </a:rPr>
              <a:t>One national emission factor; subregion factors would shift tCO₂</a:t>
            </a:r>
            <a:endParaRPr lang="en-US" sz="1300" dirty="0"/>
          </a:p>
          <a:p>
            <a:pPr marL="342900" indent="-342900">
              <a:spcAft>
                <a:spcPts val="1000"/>
              </a:spcAft>
              <a:buSzPct val="100000"/>
              <a:buChar char="•"/>
            </a:pPr>
            <a:r>
              <a:rPr lang="en-US" sz="1300" dirty="0">
                <a:solidFill>
                  <a:schemeClr val="tx1"/>
                </a:solidFill>
              </a:rPr>
              <a:t>12 unmetered solar branches modeled at gross, not net, use</a:t>
            </a:r>
            <a:endParaRPr lang="en-US" sz="1300" dirty="0"/>
          </a:p>
          <a:p>
            <a:pPr marL="342900" indent="-342900">
              <a:spcAft>
                <a:spcPts val="1000"/>
              </a:spcAft>
              <a:buSzPct val="100000"/>
              <a:buChar char="•"/>
            </a:pPr>
            <a:r>
              <a:rPr lang="en-US" sz="1300" dirty="0">
                <a:solidFill>
                  <a:schemeClr val="tx1"/>
                </a:solidFill>
              </a:rPr>
              <a:t>Electricity-only view; total energy would include gas</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Grid Amber">
  <a:themeElements>
    <a:clrScheme name="Grid Amber">
      <a:dk1>
        <a:srgbClr val="14213D"/>
      </a:dk1>
      <a:lt1>
        <a:srgbClr val="FFFFFF"/>
      </a:lt1>
      <a:dk2>
        <a:srgbClr val="3D4A63"/>
      </a:dk2>
      <a:lt2>
        <a:srgbClr val="EEF1F5"/>
      </a:lt2>
      <a:accent1>
        <a:srgbClr val="F4A300"/>
      </a:accent1>
      <a:accent2>
        <a:srgbClr val="2A9D8F"/>
      </a:accent2>
      <a:accent3>
        <a:srgbClr val="8D99AE"/>
      </a:accent3>
      <a:accent4>
        <a:srgbClr val="E76F51"/>
      </a:accent4>
      <a:accent5>
        <a:srgbClr val="4C6A92"/>
      </a:accent5>
      <a:accent6>
        <a:srgbClr val="CBD3DE"/>
      </a:accent6>
      <a:hlink>
        <a:srgbClr val="2A9D8F"/>
      </a:hlink>
      <a:folHlink>
        <a:srgbClr val="4C6A92"/>
      </a:folHlink>
    </a:clrScheme>
    <a:fontScheme name="Grid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Branch Electricity Benchmarking</dc:title>
  <dc:subject>PptxGenJS Presentation</dc:subject>
  <dc:creator>Nilima Gurjar</dc:creator>
  <cp:lastModifiedBy>Nilima Gurjar</cp:lastModifiedBy>
  <cp:revision>1</cp:revision>
  <dcterms:created xsi:type="dcterms:W3CDTF">2026-10-03T03:06:15Z</dcterms:created>
  <dcterms:modified xsi:type="dcterms:W3CDTF">2026-10-03T03:06:15Z</dcterms:modified>
</cp:coreProperties>
</file>